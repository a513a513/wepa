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069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7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7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jpe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7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19.png"/><Relationship Id="rId4" Type="http://schemas.openxmlformats.org/officeDocument/2006/relationships/image" Target="../media/image52.png"/><Relationship Id="rId9" Type="http://schemas.openxmlformats.org/officeDocument/2006/relationships/image" Target="../media/image5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7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3" Type="http://schemas.openxmlformats.org/officeDocument/2006/relationships/image" Target="../media/image7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jpeg"/><Relationship Id="rId10" Type="http://schemas.openxmlformats.org/officeDocument/2006/relationships/image" Target="../media/image73.png"/><Relationship Id="rId4" Type="http://schemas.openxmlformats.org/officeDocument/2006/relationships/image" Target="../media/image67.jpeg"/><Relationship Id="rId9" Type="http://schemas.openxmlformats.org/officeDocument/2006/relationships/image" Target="../media/image72.png"/><Relationship Id="rId14" Type="http://schemas.openxmlformats.org/officeDocument/2006/relationships/image" Target="../media/image7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.png"/><Relationship Id="rId7" Type="http://schemas.openxmlformats.org/officeDocument/2006/relationships/image" Target="../media/image81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5" Type="http://schemas.openxmlformats.org/officeDocument/2006/relationships/image" Target="../media/image79.jpeg"/><Relationship Id="rId10" Type="http://schemas.openxmlformats.org/officeDocument/2006/relationships/image" Target="../media/image84.png"/><Relationship Id="rId4" Type="http://schemas.openxmlformats.org/officeDocument/2006/relationships/image" Target="../media/image78.jpeg"/><Relationship Id="rId9" Type="http://schemas.openxmlformats.org/officeDocument/2006/relationships/image" Target="../media/image8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7.png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5" Type="http://schemas.openxmlformats.org/officeDocument/2006/relationships/image" Target="../media/image61.png"/><Relationship Id="rId4" Type="http://schemas.openxmlformats.org/officeDocument/2006/relationships/image" Target="../media/image9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7" Type="http://schemas.openxmlformats.org/officeDocument/2006/relationships/image" Target="../media/image9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png"/><Relationship Id="rId5" Type="http://schemas.openxmlformats.org/officeDocument/2006/relationships/image" Target="../media/image91.png"/><Relationship Id="rId4" Type="http://schemas.openxmlformats.org/officeDocument/2006/relationships/image" Target="../media/image9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43.png"/><Relationship Id="rId7" Type="http://schemas.openxmlformats.org/officeDocument/2006/relationships/image" Target="../media/image10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10" Type="http://schemas.openxmlformats.org/officeDocument/2006/relationships/image" Target="../media/image103.png"/><Relationship Id="rId4" Type="http://schemas.openxmlformats.org/officeDocument/2006/relationships/image" Target="../media/image98.png"/><Relationship Id="rId9" Type="http://schemas.openxmlformats.org/officeDocument/2006/relationships/image" Target="../media/image9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3.png"/><Relationship Id="rId3" Type="http://schemas.openxmlformats.org/officeDocument/2006/relationships/image" Target="../media/image43.png"/><Relationship Id="rId7" Type="http://schemas.openxmlformats.org/officeDocument/2006/relationships/image" Target="../media/image107.png"/><Relationship Id="rId12" Type="http://schemas.openxmlformats.org/officeDocument/2006/relationships/image" Target="../media/image1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11" Type="http://schemas.openxmlformats.org/officeDocument/2006/relationships/image" Target="../media/image111.png"/><Relationship Id="rId5" Type="http://schemas.openxmlformats.org/officeDocument/2006/relationships/image" Target="../media/image105.png"/><Relationship Id="rId10" Type="http://schemas.openxmlformats.org/officeDocument/2006/relationships/image" Target="../media/image110.png"/><Relationship Id="rId4" Type="http://schemas.openxmlformats.org/officeDocument/2006/relationships/image" Target="../media/image104.png"/><Relationship Id="rId9" Type="http://schemas.openxmlformats.org/officeDocument/2006/relationships/image" Target="../media/image10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gen-dedup-f03ba802626764ba7ba682a661a1571c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pic>
        <p:nvPicPr>
          <p:cNvPr id="6" name="Image 1" descr="gen-dedup-51064bafc7afef0a5e8a9c2775a52387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43000" y="1143000"/>
            <a:ext cx="1143000" cy="1143000"/>
          </a:xfrm>
          <a:prstGeom prst="rect">
            <a:avLst/>
          </a:prstGeom>
        </p:spPr>
      </p:pic>
      <p:pic>
        <p:nvPicPr>
          <p:cNvPr id="7" name="Image 2" descr="gen-dedup-c6792e855517d16ae014086535976ac1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429207" y="1429207"/>
            <a:ext cx="571500" cy="5715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2667305" y="1143000"/>
            <a:ext cx="8572500" cy="1343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NGINX 기반 GameDrop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kern="0" spc="-150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웹 서비스 설계 및 배포</a:t>
            </a:r>
            <a:endParaRPr lang="en-US" sz="4800" dirty="0"/>
          </a:p>
        </p:txBody>
      </p:sp>
      <p:sp>
        <p:nvSpPr>
          <p:cNvPr id="9" name="Text 4"/>
          <p:cNvSpPr txBox="1"/>
          <p:nvPr/>
        </p:nvSpPr>
        <p:spPr>
          <a:xfrm>
            <a:off x="2667305" y="2667305"/>
            <a:ext cx="85725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웹서비스의 입구, NGINX가 요청을 어떻게 나누는가?</a:t>
            </a:r>
            <a:endParaRPr lang="en-US" sz="2400" dirty="0"/>
          </a:p>
        </p:txBody>
      </p:sp>
      <p:sp>
        <p:nvSpPr>
          <p:cNvPr id="10" name="Shape 5"/>
          <p:cNvSpPr/>
          <p:nvPr/>
        </p:nvSpPr>
        <p:spPr>
          <a:xfrm>
            <a:off x="1143000" y="3619195"/>
            <a:ext cx="9905695" cy="1086307"/>
          </a:xfrm>
          <a:prstGeom prst="roundRect">
            <a:avLst>
              <a:gd name="adj" fmla="val 177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11" name="Image 3" descr="gen-dedup-cf6467a3ba041ad464a2cfa9ed243dcd.png"/>
          <p:cNvPicPr>
            <a:picLocks noChangeAspect="1"/>
          </p:cNvPicPr>
          <p:nvPr/>
        </p:nvPicPr>
        <p:blipFill>
          <a:blip r:embed="rId6"/>
          <a:srcRect l="-16667" r="-16667"/>
          <a:stretch/>
        </p:blipFill>
        <p:spPr>
          <a:xfrm>
            <a:off x="1380744" y="4028846"/>
            <a:ext cx="267005" cy="267005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837944" y="3619195"/>
            <a:ext cx="8973007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GameDrop 예시로 보는 NGINX의 실제 역할: 사용자 요청을 받아 </a:t>
            </a:r>
            <a:r>
              <a:rPr lang="en-US" sz="1500" b="1" dirty="0">
                <a:solidFill>
                  <a:srgbClr val="58A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화면</a:t>
            </a:r>
            <a:r>
              <a:rPr lang="en-US" sz="15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</a:t>
            </a:r>
            <a:r>
              <a:rPr lang="en-US" sz="1500" b="1" dirty="0">
                <a:solidFill>
                  <a:srgbClr val="58A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Express API</a:t>
            </a:r>
            <a:r>
              <a:rPr lang="en-US" sz="15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분배하는 중간 입구 역할</a:t>
            </a:r>
            <a:endParaRPr lang="en-US" sz="1500" dirty="0"/>
          </a:p>
        </p:txBody>
      </p:sp>
      <p:sp>
        <p:nvSpPr>
          <p:cNvPr id="13" name="Shape 7"/>
          <p:cNvSpPr/>
          <p:nvPr/>
        </p:nvSpPr>
        <p:spPr>
          <a:xfrm>
            <a:off x="1143000" y="5896051"/>
            <a:ext cx="9905695" cy="552298"/>
          </a:xfrm>
          <a:prstGeom prst="roundRect">
            <a:avLst>
              <a:gd name="adj" fmla="val 68509"/>
            </a:avLst>
          </a:prstGeom>
          <a:solidFill>
            <a:srgbClr val="2126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4" descr="gen-dedup-cf0feacf175ec7b2a1ee8cd4fdf68fc2.png"/>
          <p:cNvPicPr>
            <a:picLocks noChangeAspect="1"/>
          </p:cNvPicPr>
          <p:nvPr/>
        </p:nvPicPr>
        <p:blipFill>
          <a:blip r:embed="rId7"/>
          <a:srcRect l="-7143" r="-7143"/>
          <a:stretch/>
        </p:blipFill>
        <p:spPr>
          <a:xfrm>
            <a:off x="1371600" y="6086246"/>
            <a:ext cx="171907" cy="171907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657807" y="6048756"/>
            <a:ext cx="39438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Nginx조 : 김재민(2021663019), 박준홍(2021963034)</a:t>
            </a:r>
            <a:endParaRPr lang="en-US" sz="1200" dirty="0"/>
          </a:p>
        </p:txBody>
      </p:sp>
      <p:pic>
        <p:nvPicPr>
          <p:cNvPr id="16" name="Image 5" descr="gen-dedup-13e413894a80e95123701bcafafe566a.png"/>
          <p:cNvPicPr>
            <a:picLocks noChangeAspect="1"/>
          </p:cNvPicPr>
          <p:nvPr/>
        </p:nvPicPr>
        <p:blipFill>
          <a:blip r:embed="rId8"/>
          <a:srcRect l="-7143" r="-7143"/>
          <a:stretch/>
        </p:blipFill>
        <p:spPr>
          <a:xfrm>
            <a:off x="9678010" y="6086246"/>
            <a:ext cx="171907" cy="171907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9963302" y="6048756"/>
            <a:ext cx="102047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2026.05.20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gen-dedup-3bda7f2802a63454b6be3549f5ce770b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667098" y="381305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-150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목차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666598" y="1429207"/>
            <a:ext cx="5286146" cy="761695"/>
          </a:xfrm>
          <a:prstGeom prst="roundRect">
            <a:avLst>
              <a:gd name="adj" fmla="val 2401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6851" y="1619402"/>
            <a:ext cx="381305" cy="381305"/>
          </a:xfrm>
          <a:prstGeom prst="ellipse">
            <a:avLst/>
          </a:prstGeom>
          <a:solidFill>
            <a:srgbClr val="58A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6851" y="1619402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390802" y="1524305"/>
            <a:ext cx="41724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주제 소개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390802" y="1904695"/>
            <a:ext cx="41724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NGINX 기반 GameDrop 웹 서비스 설계 및 배포</a:t>
            </a:r>
            <a:endParaRPr lang="en-US" sz="1000" dirty="0"/>
          </a:p>
        </p:txBody>
      </p:sp>
      <p:pic>
        <p:nvPicPr>
          <p:cNvPr id="12" name="Image 1" descr="gen-dedup-923d1236d4654d897e6594a6f8fb77f8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562295" y="1714500"/>
            <a:ext cx="190195" cy="19019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238951" y="1429207"/>
            <a:ext cx="5286146" cy="761695"/>
          </a:xfrm>
          <a:prstGeom prst="roundRect">
            <a:avLst>
              <a:gd name="adj" fmla="val 2401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39205" y="1619402"/>
            <a:ext cx="381305" cy="381305"/>
          </a:xfrm>
          <a:prstGeom prst="ellipse">
            <a:avLst/>
          </a:prstGeom>
          <a:solidFill>
            <a:srgbClr val="58A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39205" y="1619402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963156" y="1524305"/>
            <a:ext cx="41248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GameDrop 서비스 소개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6963156" y="1904695"/>
            <a:ext cx="41248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 추천/정보 웹 서비스 구조</a:t>
            </a:r>
            <a:endParaRPr lang="en-US" sz="1000" dirty="0"/>
          </a:p>
        </p:txBody>
      </p:sp>
      <p:pic>
        <p:nvPicPr>
          <p:cNvPr id="18" name="Image 2" descr="gen-dedup-4a1ac368562b0826c08b3c7983b41123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087100" y="1714500"/>
            <a:ext cx="237744" cy="19019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66598" y="2476195"/>
            <a:ext cx="5286146" cy="761695"/>
          </a:xfrm>
          <a:prstGeom prst="roundRect">
            <a:avLst>
              <a:gd name="adj" fmla="val 2401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66851" y="2667305"/>
            <a:ext cx="381305" cy="381305"/>
          </a:xfrm>
          <a:prstGeom prst="ellipse">
            <a:avLst/>
          </a:prstGeom>
          <a:solidFill>
            <a:srgbClr val="58A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66851" y="2667305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1390802" y="2572207"/>
            <a:ext cx="41440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웹서비스 전체 구조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1390802" y="2952598"/>
            <a:ext cx="4144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→ NGINX → React/Express → DB</a:t>
            </a:r>
            <a:endParaRPr lang="en-US" sz="1000" dirty="0"/>
          </a:p>
        </p:txBody>
      </p:sp>
      <p:pic>
        <p:nvPicPr>
          <p:cNvPr id="24" name="Image 3" descr="gen-dedup-a41638787e9d90ff0da73a4c4549b81b.png"/>
          <p:cNvPicPr>
            <a:picLocks noChangeAspect="1"/>
          </p:cNvPicPr>
          <p:nvPr/>
        </p:nvPicPr>
        <p:blipFill>
          <a:blip r:embed="rId6"/>
          <a:srcRect l="-1282" r="-1282"/>
          <a:stretch/>
        </p:blipFill>
        <p:spPr>
          <a:xfrm>
            <a:off x="5533949" y="2762402"/>
            <a:ext cx="219456" cy="190195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6238951" y="2476195"/>
            <a:ext cx="5286146" cy="761695"/>
          </a:xfrm>
          <a:prstGeom prst="roundRect">
            <a:avLst>
              <a:gd name="adj" fmla="val 2401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439205" y="2667305"/>
            <a:ext cx="381305" cy="381305"/>
          </a:xfrm>
          <a:prstGeom prst="ellipse">
            <a:avLst/>
          </a:prstGeom>
          <a:solidFill>
            <a:srgbClr val="58A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439205" y="2667305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6963156" y="2572207"/>
            <a:ext cx="41724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NGINX의 역할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6963156" y="2952598"/>
            <a:ext cx="41724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 서버, 리버스 프록시, 로드 밸런서</a:t>
            </a:r>
            <a:endParaRPr lang="en-US" sz="1000" dirty="0"/>
          </a:p>
        </p:txBody>
      </p:sp>
      <p:pic>
        <p:nvPicPr>
          <p:cNvPr id="30" name="Image 4" descr="gen-dedup-d292b6cf51c60c9a4205f4de9284301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134649" y="2762402"/>
            <a:ext cx="190195" cy="19019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666598" y="3524098"/>
            <a:ext cx="5286146" cy="761695"/>
          </a:xfrm>
          <a:prstGeom prst="roundRect">
            <a:avLst>
              <a:gd name="adj" fmla="val 2401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66851" y="3715207"/>
            <a:ext cx="381305" cy="381305"/>
          </a:xfrm>
          <a:prstGeom prst="ellipse">
            <a:avLst/>
          </a:prstGeom>
          <a:solidFill>
            <a:srgbClr val="58A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866851" y="3715207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1390802" y="3619195"/>
            <a:ext cx="41248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NGINX 적용 방식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1390802" y="4000500"/>
            <a:ext cx="41248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location /, /api/, proxy_pass 설정</a:t>
            </a:r>
            <a:endParaRPr lang="en-US" sz="1000" dirty="0"/>
          </a:p>
        </p:txBody>
      </p:sp>
      <p:pic>
        <p:nvPicPr>
          <p:cNvPr id="36" name="Image 5" descr="gen-dedup-0497317dd7cd13e49d4e31308df4f6c4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514746" y="3810305"/>
            <a:ext cx="237744" cy="190195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6238951" y="3524098"/>
            <a:ext cx="5286146" cy="761695"/>
          </a:xfrm>
          <a:prstGeom prst="roundRect">
            <a:avLst>
              <a:gd name="adj" fmla="val 2401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6439205" y="3715207"/>
            <a:ext cx="381305" cy="381305"/>
          </a:xfrm>
          <a:prstGeom prst="ellipse">
            <a:avLst/>
          </a:prstGeom>
          <a:solidFill>
            <a:srgbClr val="58A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6439205" y="3715207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6</a:t>
            </a:r>
            <a:endParaRPr lang="en-US" sz="1300" dirty="0"/>
          </a:p>
        </p:txBody>
      </p:sp>
      <p:sp>
        <p:nvSpPr>
          <p:cNvPr id="40" name="Text 32"/>
          <p:cNvSpPr txBox="1"/>
          <p:nvPr/>
        </p:nvSpPr>
        <p:spPr>
          <a:xfrm>
            <a:off x="6963156" y="3619195"/>
            <a:ext cx="41724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한계점 및 향후 계획</a:t>
            </a:r>
            <a:endParaRPr lang="en-US" sz="1800" dirty="0"/>
          </a:p>
        </p:txBody>
      </p:sp>
      <p:sp>
        <p:nvSpPr>
          <p:cNvPr id="41" name="Text 33"/>
          <p:cNvSpPr txBox="1"/>
          <p:nvPr/>
        </p:nvSpPr>
        <p:spPr>
          <a:xfrm>
            <a:off x="6963156" y="4000500"/>
            <a:ext cx="41724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단계와 개선 방향</a:t>
            </a:r>
            <a:endParaRPr lang="en-US" sz="1000" dirty="0"/>
          </a:p>
        </p:txBody>
      </p:sp>
      <p:pic>
        <p:nvPicPr>
          <p:cNvPr id="42" name="Image 6" descr="gen-dedup-b0a3c49abb1379b07ed69591229fb6b4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1134649" y="3810305"/>
            <a:ext cx="190195" cy="190195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571500" y="6143854"/>
            <a:ext cx="11048695" cy="437998"/>
          </a:xfrm>
          <a:prstGeom prst="roundRect">
            <a:avLst>
              <a:gd name="adj" fmla="val 7261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44" name="Image 7" descr="gen-dedup-001a4feaf1a7ca7bf8484caf3b1712fe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71754" y="6295644"/>
            <a:ext cx="133502" cy="133502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1000354" y="6267298"/>
            <a:ext cx="18004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12장의 슬라이드로 구성</a:t>
            </a:r>
            <a:endParaRPr lang="en-US" sz="1000" dirty="0"/>
          </a:p>
        </p:txBody>
      </p:sp>
      <p:sp>
        <p:nvSpPr>
          <p:cNvPr id="46" name="Text 36"/>
          <p:cNvSpPr txBox="1"/>
          <p:nvPr/>
        </p:nvSpPr>
        <p:spPr>
          <a:xfrm>
            <a:off x="10264140" y="6267298"/>
            <a:ext cx="148407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발표 시간: 40분 </a:t>
            </a:r>
            <a:endParaRPr lang="en-US" sz="1000" dirty="0"/>
          </a:p>
        </p:txBody>
      </p:sp>
      <p:pic>
        <p:nvPicPr>
          <p:cNvPr id="47" name="Image 8" descr="gen-dedup-1d8f127d68e039f073e25834cfa90e03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083089" y="6295644"/>
            <a:ext cx="133502" cy="1335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gen-dedup-3bda7f2802a63454b6be3549f5ce770b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25305" y="-952805"/>
            <a:ext cx="2857500" cy="285750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1500" y="381305"/>
            <a:ext cx="110496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NGINX란?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71500" y="933602"/>
            <a:ext cx="11049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웹서비스의 앞에서 사용자 요청을 받아주는 웹 서버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1500" y="1238098"/>
            <a:ext cx="11048695" cy="1047902"/>
          </a:xfrm>
          <a:prstGeom prst="roundRect">
            <a:avLst>
              <a:gd name="adj" fmla="val 19039"/>
            </a:avLst>
          </a:prstGeom>
          <a:solidFill>
            <a:srgbClr val="0D1117"/>
          </a:solidFill>
          <a:ln w="25400">
            <a:solidFill>
              <a:srgbClr val="3ECF8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25266" y="1438351"/>
            <a:ext cx="637519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ECF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쉽게 말하면:</a:t>
            </a: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웹사이트의 </a:t>
            </a:r>
            <a:r>
              <a:rPr lang="en-US" sz="2100" b="1" dirty="0">
                <a:solidFill>
                  <a:srgbClr val="3ECF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입구</a:t>
            </a: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이자 </a:t>
            </a:r>
            <a:r>
              <a:rPr lang="en-US" sz="2100" b="1" dirty="0">
                <a:solidFill>
                  <a:srgbClr val="3ECF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안내 데스크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3343961" y="1857146"/>
            <a:ext cx="55056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사용자가 웹사이트에 접속했을 때 가장 먼저 만나는 관리자 역할</a:t>
            </a:r>
            <a:endParaRPr lang="en-US" sz="1200" dirty="0"/>
          </a:p>
        </p:txBody>
      </p:sp>
      <p:pic>
        <p:nvPicPr>
          <p:cNvPr id="12" name="Image 1" descr="gen-dedup-73a8c5100c1b4c4275bfdaf4140a37ce.png"/>
          <p:cNvPicPr>
            <a:picLocks noChangeAspect="1"/>
          </p:cNvPicPr>
          <p:nvPr/>
        </p:nvPicPr>
        <p:blipFill>
          <a:blip r:embed="rId4"/>
          <a:srcRect t="-6250" b="-6250"/>
          <a:stretch/>
        </p:blipFill>
        <p:spPr>
          <a:xfrm>
            <a:off x="3343961" y="1509674"/>
            <a:ext cx="267005" cy="26700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71500" y="2428646"/>
            <a:ext cx="3429000" cy="3524098"/>
          </a:xfrm>
          <a:prstGeom prst="roundRect">
            <a:avLst>
              <a:gd name="adj" fmla="val 17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09244" y="2667305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1F6F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2" descr="gen-dedup-147984f1e5dd3dcadbe12486fdcd1a3d.png"/>
          <p:cNvPicPr>
            <a:picLocks noChangeAspect="1"/>
          </p:cNvPicPr>
          <p:nvPr/>
        </p:nvPicPr>
        <p:blipFill>
          <a:blip r:embed="rId5"/>
          <a:srcRect l="-16667" r="-16667"/>
          <a:stretch/>
        </p:blipFill>
        <p:spPr>
          <a:xfrm>
            <a:off x="933602" y="2790749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38351" y="2686507"/>
            <a:ext cx="201808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웹페이지 파일 제공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1438351" y="2933395"/>
            <a:ext cx="15718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HTML, CSS, JS 파일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809244" y="3333902"/>
            <a:ext cx="2953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정적 파일(HTML, CSS, JS, 이미지)을 사용자에게 빠르고 정확하게 보여줍니다.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09244" y="5305349"/>
            <a:ext cx="2952598" cy="409651"/>
          </a:xfrm>
          <a:prstGeom prst="roundRect">
            <a:avLst>
              <a:gd name="adj" fmla="val 83057"/>
            </a:avLst>
          </a:prstGeom>
          <a:solidFill>
            <a:srgbClr val="0D11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1123798" y="5419649"/>
            <a:ext cx="25246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8A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정적 파일 서빙 </a:t>
            </a:r>
            <a:endParaRPr lang="en-US" sz="900" dirty="0"/>
          </a:p>
        </p:txBody>
      </p:sp>
      <p:pic>
        <p:nvPicPr>
          <p:cNvPr id="21" name="Image 3" descr="gen-dedup-5c5e4b6317e142a5fef65902f3944703.png"/>
          <p:cNvPicPr>
            <a:picLocks noChangeAspect="1"/>
          </p:cNvPicPr>
          <p:nvPr/>
        </p:nvPicPr>
        <p:blipFill>
          <a:blip r:embed="rId6"/>
          <a:srcRect l="-7143" r="-7143"/>
          <a:stretch/>
        </p:blipFill>
        <p:spPr>
          <a:xfrm>
            <a:off x="923544" y="5454396"/>
            <a:ext cx="123444" cy="123444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4381805" y="2428646"/>
            <a:ext cx="3429000" cy="3524098"/>
          </a:xfrm>
          <a:prstGeom prst="roundRect">
            <a:avLst>
              <a:gd name="adj" fmla="val 17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619549" y="2667305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238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4" descr="gen-dedup-6cc7ffc597dd21125020a60d27bb6f57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743907" y="2790749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248656" y="2686507"/>
            <a:ext cx="16386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API 요청 전달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5248656" y="2933395"/>
            <a:ext cx="190652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→ NGINX → Express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4619549" y="3333902"/>
            <a:ext cx="2953512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사용자의 API 요청을 백엔드 서버로 전달하고 결과를 받아 응답합니다.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4619549" y="4426610"/>
            <a:ext cx="2953512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ex)사용자가 로그인,찜 목록 저장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619549" y="5305349"/>
            <a:ext cx="2952598" cy="409651"/>
          </a:xfrm>
          <a:prstGeom prst="roundRect">
            <a:avLst>
              <a:gd name="adj" fmla="val 83057"/>
            </a:avLst>
          </a:prstGeom>
          <a:solidFill>
            <a:srgbClr val="0D11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4934102" y="5419649"/>
            <a:ext cx="25246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ECF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리버스 프록시 </a:t>
            </a:r>
            <a:endParaRPr lang="en-US" sz="900" dirty="0"/>
          </a:p>
        </p:txBody>
      </p:sp>
      <p:pic>
        <p:nvPicPr>
          <p:cNvPr id="31" name="Image 5" descr="gen-dedup-4eb316ee9fb39dce32ec78395be16f81.png"/>
          <p:cNvPicPr>
            <a:picLocks noChangeAspect="1"/>
          </p:cNvPicPr>
          <p:nvPr/>
        </p:nvPicPr>
        <p:blipFill>
          <a:blip r:embed="rId8"/>
          <a:srcRect l="-7143" r="-7143"/>
          <a:stretch/>
        </p:blipFill>
        <p:spPr>
          <a:xfrm>
            <a:off x="4733849" y="5454396"/>
            <a:ext cx="123444" cy="123444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8191195" y="2428646"/>
            <a:ext cx="3429000" cy="3524098"/>
          </a:xfrm>
          <a:prstGeom prst="roundRect">
            <a:avLst>
              <a:gd name="adj" fmla="val 17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8429854" y="2667305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8957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6" descr="gen-dedup-65b9706087a3475e373fe9a321f8496b.png"/>
          <p:cNvPicPr>
            <a:picLocks noChangeAspect="1"/>
          </p:cNvPicPr>
          <p:nvPr/>
        </p:nvPicPr>
        <p:blipFill>
          <a:blip r:embed="rId9"/>
          <a:srcRect t="-12500" b="-12500"/>
          <a:stretch/>
        </p:blipFill>
        <p:spPr>
          <a:xfrm>
            <a:off x="8553298" y="2790749"/>
            <a:ext cx="228600" cy="22860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9058046" y="2686507"/>
            <a:ext cx="11484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서버 통합</a:t>
            </a:r>
            <a:endParaRPr lang="en-US" sz="1300" dirty="0"/>
          </a:p>
        </p:txBody>
      </p:sp>
      <p:sp>
        <p:nvSpPr>
          <p:cNvPr id="36" name="Text 27"/>
          <p:cNvSpPr txBox="1"/>
          <p:nvPr/>
        </p:nvSpPr>
        <p:spPr>
          <a:xfrm>
            <a:off x="9058046" y="2933395"/>
            <a:ext cx="12691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주소로 연결</a:t>
            </a:r>
            <a:endParaRPr lang="en-US" sz="1000" dirty="0"/>
          </a:p>
        </p:txBody>
      </p:sp>
      <p:sp>
        <p:nvSpPr>
          <p:cNvPr id="37" name="Text 28"/>
          <p:cNvSpPr txBox="1"/>
          <p:nvPr/>
        </p:nvSpPr>
        <p:spPr>
          <a:xfrm>
            <a:off x="8429854" y="3333902"/>
            <a:ext cx="2953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 개의 백엔드 서버를 하나의 대표 주소처럼 연결해주는 역할을 합니다.</a:t>
            </a:r>
            <a:endParaRPr lang="en-US" sz="1100" dirty="0"/>
          </a:p>
        </p:txBody>
      </p:sp>
      <p:sp>
        <p:nvSpPr>
          <p:cNvPr id="38" name="Shape 29"/>
          <p:cNvSpPr/>
          <p:nvPr/>
        </p:nvSpPr>
        <p:spPr>
          <a:xfrm>
            <a:off x="8429854" y="5305349"/>
            <a:ext cx="2952598" cy="409651"/>
          </a:xfrm>
          <a:prstGeom prst="roundRect">
            <a:avLst>
              <a:gd name="adj" fmla="val 83057"/>
            </a:avLst>
          </a:prstGeom>
          <a:solidFill>
            <a:srgbClr val="0D11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0"/>
          <p:cNvSpPr txBox="1"/>
          <p:nvPr/>
        </p:nvSpPr>
        <p:spPr>
          <a:xfrm>
            <a:off x="8744407" y="5419649"/>
            <a:ext cx="25246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957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로드 밸런싱 </a:t>
            </a:r>
            <a:endParaRPr lang="en-US" sz="900" dirty="0"/>
          </a:p>
        </p:txBody>
      </p:sp>
      <p:pic>
        <p:nvPicPr>
          <p:cNvPr id="40" name="Image 7" descr="gen-dedup-265d355d183d90e67684ec87da04f07f.png"/>
          <p:cNvPicPr>
            <a:picLocks noChangeAspect="1"/>
          </p:cNvPicPr>
          <p:nvPr/>
        </p:nvPicPr>
        <p:blipFill>
          <a:blip r:embed="rId10"/>
          <a:srcRect l="-7143" r="-7143"/>
          <a:stretch/>
        </p:blipFill>
        <p:spPr>
          <a:xfrm>
            <a:off x="8544154" y="5454396"/>
            <a:ext cx="123444" cy="123444"/>
          </a:xfrm>
          <a:prstGeom prst="rect">
            <a:avLst/>
          </a:prstGeom>
        </p:spPr>
      </p:pic>
      <p:sp>
        <p:nvSpPr>
          <p:cNvPr id="41" name="Shape 31"/>
          <p:cNvSpPr/>
          <p:nvPr/>
        </p:nvSpPr>
        <p:spPr>
          <a:xfrm>
            <a:off x="571500" y="6143854"/>
            <a:ext cx="11048695" cy="523951"/>
          </a:xfrm>
          <a:prstGeom prst="roundRect">
            <a:avLst>
              <a:gd name="adj" fmla="val 7615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42" name="Image 8" descr="gen-dedup-3a9d4f80a22f3610a251613b8cd00428.png"/>
          <p:cNvPicPr>
            <a:picLocks noChangeAspect="1"/>
          </p:cNvPicPr>
          <p:nvPr/>
        </p:nvPicPr>
        <p:blipFill>
          <a:blip r:embed="rId11"/>
          <a:srcRect l="-16667" r="-16667"/>
          <a:stretch/>
        </p:blipFill>
        <p:spPr>
          <a:xfrm>
            <a:off x="819302" y="6338621"/>
            <a:ext cx="133502" cy="133502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1047902" y="6305702"/>
            <a:ext cx="3858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핵심:</a:t>
            </a:r>
            <a:endParaRPr lang="en-US" sz="1100" dirty="0"/>
          </a:p>
        </p:txBody>
      </p:sp>
      <p:sp>
        <p:nvSpPr>
          <p:cNvPr id="44" name="Text 33"/>
          <p:cNvSpPr txBox="1"/>
          <p:nvPr/>
        </p:nvSpPr>
        <p:spPr>
          <a:xfrm>
            <a:off x="1448410" y="6305702"/>
            <a:ext cx="512887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NGINX는 </a:t>
            </a:r>
            <a:r>
              <a:rPr lang="en-US" sz="1100" dirty="0">
                <a:solidFill>
                  <a:srgbClr val="3ECF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요청</a:t>
            </a:r>
            <a:r>
              <a:rPr lang="en-US" sz="11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받아 </a:t>
            </a:r>
            <a:r>
              <a:rPr lang="en-US" sz="1100" dirty="0">
                <a:solidFill>
                  <a:srgbClr val="3ECF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적절한 서버</a:t>
            </a:r>
            <a:r>
              <a:rPr lang="en-US" sz="11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보내주는 </a:t>
            </a:r>
            <a:r>
              <a:rPr lang="en-US" sz="1100" dirty="0">
                <a:solidFill>
                  <a:srgbClr val="3ECF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 관리자</a:t>
            </a:r>
            <a:r>
              <a:rPr lang="en-US" sz="11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역할</a:t>
            </a:r>
            <a:endParaRPr lang="en-US" sz="1100" dirty="0"/>
          </a:p>
        </p:txBody>
      </p:sp>
      <p:sp>
        <p:nvSpPr>
          <p:cNvPr id="45" name="Text 34"/>
          <p:cNvSpPr txBox="1"/>
          <p:nvPr/>
        </p:nvSpPr>
        <p:spPr>
          <a:xfrm>
            <a:off x="10238537" y="6310274"/>
            <a:ext cx="35935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상태: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10635386" y="6357823"/>
            <a:ext cx="95098" cy="95098"/>
          </a:xfrm>
          <a:prstGeom prst="ellipse">
            <a:avLst/>
          </a:prstGeom>
          <a:solidFill>
            <a:srgbClr val="3ECF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36"/>
          <p:cNvSpPr txBox="1"/>
          <p:nvPr/>
        </p:nvSpPr>
        <p:spPr>
          <a:xfrm>
            <a:off x="10844784" y="6310274"/>
            <a:ext cx="63550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ECF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정상 작동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gen-dedup-3bda7f2802a63454b6be3549f5ce770b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25305" y="-952805"/>
            <a:ext cx="3810305" cy="3810305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1500" y="381305"/>
            <a:ext cx="110496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왜 NGINX가 필요한가?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71500" y="933602"/>
            <a:ext cx="11049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 서비스의 입구: 요청을 한 곳에서 받아 정리·분배하는 중간 계층의 필요성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1500" y="1429207"/>
            <a:ext cx="5238598" cy="4572000"/>
          </a:xfrm>
          <a:prstGeom prst="roundRect">
            <a:avLst>
              <a:gd name="adj" fmla="val 1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19556" y="1628546"/>
            <a:ext cx="45912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8A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NGINX의 핵심 역할 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71754" y="2018995"/>
            <a:ext cx="4839005" cy="866851"/>
          </a:xfrm>
          <a:prstGeom prst="roundRect">
            <a:avLst>
              <a:gd name="adj" fmla="val 18547"/>
            </a:avLst>
          </a:prstGeom>
          <a:solidFill>
            <a:srgbClr val="0D11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76249" y="2133295"/>
            <a:ext cx="44202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6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요청 처리 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86054" y="2400300"/>
            <a:ext cx="46104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사용자는 React/Express로 </a:t>
            </a:r>
            <a:r>
              <a:rPr lang="en-US" sz="900" b="1" dirty="0">
                <a:solidFill>
                  <a:srgbClr val="FF7B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가지 않음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NGINX가 </a:t>
            </a:r>
            <a:r>
              <a:rPr lang="en-US" sz="900" b="1" dirty="0">
                <a:solidFill>
                  <a:srgbClr val="3ECF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진입점</a:t>
            </a:r>
            <a:r>
              <a:rPr lang="en-US" sz="9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역할 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71754" y="3029407"/>
            <a:ext cx="4839005" cy="866851"/>
          </a:xfrm>
          <a:prstGeom prst="roundRect">
            <a:avLst>
              <a:gd name="adj" fmla="val 18547"/>
            </a:avLst>
          </a:prstGeom>
          <a:solidFill>
            <a:srgbClr val="0D11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76249" y="3143707"/>
            <a:ext cx="44202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6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도메인·한 포트 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86054" y="3409798"/>
            <a:ext cx="46104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ECF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r>
              <a:rPr lang="en-US" sz="9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React 정적 파일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3ECF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/api/</a:t>
            </a:r>
            <a:r>
              <a:rPr lang="en-US" sz="9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Express 서버 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71754" y="4038905"/>
            <a:ext cx="4839005" cy="685800"/>
          </a:xfrm>
          <a:prstGeom prst="roundRect">
            <a:avLst>
              <a:gd name="adj" fmla="val 29630"/>
            </a:avLst>
          </a:prstGeom>
          <a:solidFill>
            <a:srgbClr val="0D11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76249" y="4153205"/>
            <a:ext cx="44202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6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 가능성 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886054" y="4419295"/>
            <a:ext cx="46104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HTTPS, 캐시, 압축, 로드밸런싱</a:t>
            </a:r>
            <a:endParaRPr lang="en-US" sz="900" dirty="0"/>
          </a:p>
        </p:txBody>
      </p:sp>
      <p:pic>
        <p:nvPicPr>
          <p:cNvPr id="20" name="Image 1" descr="gen-dedup-5802ac340f2c38962fb2222aabf4fa29.png"/>
          <p:cNvPicPr>
            <a:picLocks noChangeAspect="1"/>
          </p:cNvPicPr>
          <p:nvPr/>
        </p:nvPicPr>
        <p:blipFill>
          <a:blip r:embed="rId4"/>
          <a:srcRect t="-6250" b="-6250"/>
          <a:stretch/>
        </p:blipFill>
        <p:spPr>
          <a:xfrm>
            <a:off x="771754" y="1678838"/>
            <a:ext cx="171907" cy="171907"/>
          </a:xfrm>
          <a:prstGeom prst="rect">
            <a:avLst/>
          </a:prstGeom>
        </p:spPr>
      </p:pic>
      <p:pic>
        <p:nvPicPr>
          <p:cNvPr id="21" name="Image 2" descr="gen-dedup-eae2effc152c6bd27934ad456f5b750b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886054" y="2168957"/>
            <a:ext cx="133502" cy="133502"/>
          </a:xfrm>
          <a:prstGeom prst="rect">
            <a:avLst/>
          </a:prstGeom>
        </p:spPr>
      </p:pic>
      <p:pic>
        <p:nvPicPr>
          <p:cNvPr id="22" name="Image 3" descr="gen-dedup-3db841e05cd6510731cc8aabd7f585b1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86054" y="3179369"/>
            <a:ext cx="133502" cy="133502"/>
          </a:xfrm>
          <a:prstGeom prst="rect">
            <a:avLst/>
          </a:prstGeom>
        </p:spPr>
      </p:pic>
      <p:pic>
        <p:nvPicPr>
          <p:cNvPr id="23" name="Image 4" descr="gen-dedup-386072125b99084b2519f8ed2e51fe54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86054" y="4188866"/>
            <a:ext cx="133502" cy="13350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096305" y="1429207"/>
            <a:ext cx="5524805" cy="4572000"/>
          </a:xfrm>
          <a:prstGeom prst="roundRect">
            <a:avLst>
              <a:gd name="adj" fmla="val 1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6524244" y="1628546"/>
            <a:ext cx="4896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 흐름 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8057693" y="2000707"/>
            <a:ext cx="1609344" cy="514807"/>
          </a:xfrm>
          <a:prstGeom prst="roundRect">
            <a:avLst>
              <a:gd name="adj" fmla="val 52628"/>
            </a:avLst>
          </a:prstGeom>
          <a:solidFill>
            <a:srgbClr val="0D1117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8504834" y="2162556"/>
            <a:ext cx="10972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6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브라우저 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8102498" y="3076956"/>
            <a:ext cx="1514246" cy="857707"/>
          </a:xfrm>
          <a:prstGeom prst="roundRect">
            <a:avLst>
              <a:gd name="adj" fmla="val 18953"/>
            </a:avLst>
          </a:prstGeom>
          <a:solidFill>
            <a:srgbClr val="0D1117"/>
          </a:solidFill>
          <a:ln w="25400">
            <a:solidFill>
              <a:srgbClr val="3ECF8E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8730691" y="3286354"/>
            <a:ext cx="486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NGINX 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8502091" y="3562502"/>
            <a:ext cx="7150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 분배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7631582" y="4448556"/>
            <a:ext cx="972007" cy="714146"/>
          </a:xfrm>
          <a:prstGeom prst="roundRect">
            <a:avLst>
              <a:gd name="adj" fmla="val 27315"/>
            </a:avLst>
          </a:prstGeom>
          <a:solidFill>
            <a:srgbClr val="0D1117"/>
          </a:solidFill>
          <a:ln w="25400">
            <a:solidFill>
              <a:srgbClr val="F1E05A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8031175" y="4610405"/>
            <a:ext cx="4974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6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7840980" y="4848149"/>
            <a:ext cx="5532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정적 파일</a:t>
            </a:r>
            <a:endParaRPr lang="en-US" sz="800" dirty="0"/>
          </a:p>
        </p:txBody>
      </p:sp>
      <p:sp>
        <p:nvSpPr>
          <p:cNvPr id="34" name="Shape 27"/>
          <p:cNvSpPr/>
          <p:nvPr/>
        </p:nvSpPr>
        <p:spPr>
          <a:xfrm>
            <a:off x="8982151" y="4448556"/>
            <a:ext cx="1104595" cy="714146"/>
          </a:xfrm>
          <a:prstGeom prst="roundRect">
            <a:avLst>
              <a:gd name="adj" fmla="val 27315"/>
            </a:avLst>
          </a:prstGeom>
          <a:solidFill>
            <a:srgbClr val="0D1117"/>
          </a:solidFill>
          <a:ln w="25400">
            <a:solidFill>
              <a:srgbClr val="A371F7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9382658" y="4610405"/>
            <a:ext cx="6821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6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Express 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9192463" y="4848149"/>
            <a:ext cx="6858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서버</a:t>
            </a:r>
            <a:endParaRPr lang="en-US" sz="800" dirty="0"/>
          </a:p>
        </p:txBody>
      </p:sp>
      <p:sp>
        <p:nvSpPr>
          <p:cNvPr id="37" name="Shape 30"/>
          <p:cNvSpPr/>
          <p:nvPr/>
        </p:nvSpPr>
        <p:spPr>
          <a:xfrm>
            <a:off x="9228125" y="5257800"/>
            <a:ext cx="619049" cy="371246"/>
          </a:xfrm>
          <a:prstGeom prst="roundRect">
            <a:avLst>
              <a:gd name="adj" fmla="val 101048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9533534" y="5362956"/>
            <a:ext cx="16184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</a:t>
            </a:r>
            <a:endParaRPr lang="en-US" sz="900" dirty="0"/>
          </a:p>
        </p:txBody>
      </p:sp>
      <p:pic>
        <p:nvPicPr>
          <p:cNvPr id="39" name="Image 5" descr="gen-dedup-81a192541d82c1d10d947d4c913126ba.png"/>
          <p:cNvPicPr>
            <a:picLocks noChangeAspect="1"/>
          </p:cNvPicPr>
          <p:nvPr/>
        </p:nvPicPr>
        <p:blipFill>
          <a:blip r:embed="rId8"/>
          <a:srcRect t="-6250" b="-6250"/>
          <a:stretch/>
        </p:blipFill>
        <p:spPr>
          <a:xfrm>
            <a:off x="6295644" y="1676095"/>
            <a:ext cx="152705" cy="152705"/>
          </a:xfrm>
          <a:prstGeom prst="rect">
            <a:avLst/>
          </a:prstGeom>
        </p:spPr>
      </p:pic>
      <p:pic>
        <p:nvPicPr>
          <p:cNvPr id="40" name="Image 6" descr="gen-dedup-b54d0dac393d45dec53a7bf9df9b230d.png"/>
          <p:cNvPicPr>
            <a:picLocks noChangeAspect="1"/>
          </p:cNvPicPr>
          <p:nvPr/>
        </p:nvPicPr>
        <p:blipFill>
          <a:blip r:embed="rId9"/>
          <a:srcRect l="-7143" r="-7143"/>
          <a:stretch/>
        </p:blipFill>
        <p:spPr>
          <a:xfrm>
            <a:off x="8314639" y="2198218"/>
            <a:ext cx="133502" cy="133502"/>
          </a:xfrm>
          <a:prstGeom prst="rect">
            <a:avLst/>
          </a:prstGeom>
        </p:spPr>
      </p:pic>
      <p:pic>
        <p:nvPicPr>
          <p:cNvPr id="41" name="Image 7" descr="gen-dedup-83840526567e52a703b9190c9c323b1b.png"/>
          <p:cNvPicPr>
            <a:picLocks noChangeAspect="1"/>
          </p:cNvPicPr>
          <p:nvPr/>
        </p:nvPicPr>
        <p:blipFill>
          <a:blip r:embed="rId10"/>
          <a:srcRect l="-16667" r="-16667"/>
          <a:stretch/>
        </p:blipFill>
        <p:spPr>
          <a:xfrm>
            <a:off x="8762695" y="2710282"/>
            <a:ext cx="190195" cy="190195"/>
          </a:xfrm>
          <a:prstGeom prst="rect">
            <a:avLst/>
          </a:prstGeom>
        </p:spPr>
      </p:pic>
      <p:pic>
        <p:nvPicPr>
          <p:cNvPr id="42" name="Image 8" descr="gen-dedup-a87aa8b216bceef3bbae1c20cf9533bc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502091" y="3333902"/>
            <a:ext cx="152705" cy="152705"/>
          </a:xfrm>
          <a:prstGeom prst="rect">
            <a:avLst/>
          </a:prstGeom>
        </p:spPr>
      </p:pic>
      <p:pic>
        <p:nvPicPr>
          <p:cNvPr id="43" name="Image 9" descr="gen-dedup-83840526567e52a703b9190c9c323b1b.png"/>
          <p:cNvPicPr>
            <a:picLocks noChangeAspect="1"/>
          </p:cNvPicPr>
          <p:nvPr/>
        </p:nvPicPr>
        <p:blipFill>
          <a:blip r:embed="rId10"/>
          <a:srcRect l="-16667" r="-16667"/>
          <a:stretch/>
        </p:blipFill>
        <p:spPr>
          <a:xfrm>
            <a:off x="8021117" y="4129430"/>
            <a:ext cx="190195" cy="190195"/>
          </a:xfrm>
          <a:prstGeom prst="rect">
            <a:avLst/>
          </a:prstGeom>
        </p:spPr>
      </p:pic>
      <p:pic>
        <p:nvPicPr>
          <p:cNvPr id="44" name="Image 10" descr="gen-dedup-52ec2d2233b7c48db22aaa45f2c07b6f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840980" y="4646066"/>
            <a:ext cx="133502" cy="133502"/>
          </a:xfrm>
          <a:prstGeom prst="rect">
            <a:avLst/>
          </a:prstGeom>
        </p:spPr>
      </p:pic>
      <p:pic>
        <p:nvPicPr>
          <p:cNvPr id="45" name="Image 11" descr="gen-dedup-83840526567e52a703b9190c9c323b1b.png"/>
          <p:cNvPicPr>
            <a:picLocks noChangeAspect="1"/>
          </p:cNvPicPr>
          <p:nvPr/>
        </p:nvPicPr>
        <p:blipFill>
          <a:blip r:embed="rId10"/>
          <a:srcRect l="-16667" r="-16667"/>
          <a:stretch/>
        </p:blipFill>
        <p:spPr>
          <a:xfrm>
            <a:off x="9438437" y="4129430"/>
            <a:ext cx="190195" cy="190195"/>
          </a:xfrm>
          <a:prstGeom prst="rect">
            <a:avLst/>
          </a:prstGeom>
        </p:spPr>
      </p:pic>
      <p:pic>
        <p:nvPicPr>
          <p:cNvPr id="46" name="Image 12" descr="gen-dedup-e22cfdc59c2b1dfcdec0487bee43c421.png"/>
          <p:cNvPicPr>
            <a:picLocks noChangeAspect="1"/>
          </p:cNvPicPr>
          <p:nvPr/>
        </p:nvPicPr>
        <p:blipFill>
          <a:blip r:embed="rId13"/>
          <a:srcRect t="-12500" b="-12500"/>
          <a:stretch/>
        </p:blipFill>
        <p:spPr>
          <a:xfrm>
            <a:off x="9192463" y="4646066"/>
            <a:ext cx="133502" cy="133502"/>
          </a:xfrm>
          <a:prstGeom prst="rect">
            <a:avLst/>
          </a:prstGeom>
        </p:spPr>
      </p:pic>
      <p:pic>
        <p:nvPicPr>
          <p:cNvPr id="47" name="Image 13" descr="gen-dedup-bf60f305f24a473c3c5d957d10690a8a.png"/>
          <p:cNvPicPr>
            <a:picLocks noChangeAspect="1"/>
          </p:cNvPicPr>
          <p:nvPr/>
        </p:nvPicPr>
        <p:blipFill>
          <a:blip r:embed="rId14"/>
          <a:srcRect l="-7143" r="-7143"/>
          <a:stretch/>
        </p:blipFill>
        <p:spPr>
          <a:xfrm>
            <a:off x="9380830" y="5395874"/>
            <a:ext cx="114300" cy="114300"/>
          </a:xfrm>
          <a:prstGeom prst="rect">
            <a:avLst/>
          </a:prstGeom>
        </p:spPr>
      </p:pic>
      <p:sp>
        <p:nvSpPr>
          <p:cNvPr id="48" name="Shape 32"/>
          <p:cNvSpPr/>
          <p:nvPr/>
        </p:nvSpPr>
        <p:spPr>
          <a:xfrm>
            <a:off x="571500" y="6191402"/>
            <a:ext cx="11048695" cy="437998"/>
          </a:xfrm>
          <a:prstGeom prst="roundRect">
            <a:avLst>
              <a:gd name="adj" fmla="val 72615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49" name="Image 14" descr="gen-dedup-2296381b403b6b95f97881da5c7a5920.png"/>
          <p:cNvPicPr>
            <a:picLocks noChangeAspect="1"/>
          </p:cNvPicPr>
          <p:nvPr/>
        </p:nvPicPr>
        <p:blipFill>
          <a:blip r:embed="rId15"/>
          <a:srcRect l="-16666" r="-16666"/>
          <a:stretch/>
        </p:blipFill>
        <p:spPr>
          <a:xfrm>
            <a:off x="771754" y="6334049"/>
            <a:ext cx="152705" cy="152705"/>
          </a:xfrm>
          <a:prstGeom prst="rect">
            <a:avLst/>
          </a:prstGeom>
        </p:spPr>
      </p:pic>
      <p:sp>
        <p:nvSpPr>
          <p:cNvPr id="50" name="Text 33"/>
          <p:cNvSpPr txBox="1"/>
          <p:nvPr/>
        </p:nvSpPr>
        <p:spPr>
          <a:xfrm>
            <a:off x="1019556" y="6314846"/>
            <a:ext cx="55997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6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핵심:</a:t>
            </a:r>
            <a:r>
              <a:rPr lang="en-US" sz="1000" dirty="0">
                <a:solidFill>
                  <a:srgbClr val="E6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NGINX는 사용자 요청을 받아 </a:t>
            </a:r>
            <a:r>
              <a:rPr lang="en-US" sz="1000" b="1" dirty="0">
                <a:solidFill>
                  <a:srgbClr val="3ECF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적절한 서버로 분배</a:t>
            </a:r>
            <a:r>
              <a:rPr lang="en-US" sz="1000" dirty="0">
                <a:solidFill>
                  <a:srgbClr val="E6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하는 </a:t>
            </a:r>
            <a:r>
              <a:rPr lang="en-US" sz="1000" b="1" dirty="0">
                <a:solidFill>
                  <a:srgbClr val="3ECF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 계층</a:t>
            </a:r>
            <a:r>
              <a:rPr lang="en-US" sz="1000" dirty="0">
                <a:solidFill>
                  <a:srgbClr val="E6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역할을 합니다 </a:t>
            </a:r>
            <a:endParaRPr lang="en-US" sz="1000" dirty="0"/>
          </a:p>
        </p:txBody>
      </p:sp>
      <p:sp>
        <p:nvSpPr>
          <p:cNvPr id="51" name="Text 34"/>
          <p:cNvSpPr txBox="1"/>
          <p:nvPr/>
        </p:nvSpPr>
        <p:spPr>
          <a:xfrm>
            <a:off x="10439705" y="6319418"/>
            <a:ext cx="11914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도메인으로 통합 </a:t>
            </a:r>
            <a:endParaRPr lang="en-US" sz="900" dirty="0"/>
          </a:p>
        </p:txBody>
      </p:sp>
      <p:pic>
        <p:nvPicPr>
          <p:cNvPr id="52" name="Image 15" descr="gen-dedup-f5327687d2a174a9f7f3a8ad93e947bc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0267798" y="6354166"/>
            <a:ext cx="123444" cy="1234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gen-dedup-3bda7f2802a63454b6be3549f5ce770b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25305" y="-952805"/>
            <a:ext cx="2857500" cy="285750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1500" y="286207"/>
            <a:ext cx="110496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75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GameDrop 프로젝트 소개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571500" y="790956"/>
            <a:ext cx="11049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 추천/정보 웹 서비스 - NGINX 기반 풀스택 아키텍처 실습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1500" y="1238098"/>
            <a:ext cx="5524805" cy="2133295"/>
          </a:xfrm>
          <a:prstGeom prst="roundRect">
            <a:avLst>
              <a:gd name="adj" fmla="val 306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1754" y="1466698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1F6F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1" descr="gen-dedup-e4fb21f9f547892322bc1299cce7e3b7.png"/>
          <p:cNvPicPr>
            <a:picLocks noChangeAspect="1"/>
          </p:cNvPicPr>
          <p:nvPr/>
        </p:nvPicPr>
        <p:blipFill>
          <a:blip r:embed="rId4"/>
          <a:srcRect t="-842" b="-842"/>
          <a:stretch/>
        </p:blipFill>
        <p:spPr>
          <a:xfrm>
            <a:off x="866851" y="1571854"/>
            <a:ext cx="190195" cy="17190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66444" y="1438351"/>
            <a:ext cx="10387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프론트엔드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266444" y="1686154"/>
            <a:ext cx="135605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React로 화면 구성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71754" y="2018995"/>
            <a:ext cx="761695" cy="342900"/>
          </a:xfrm>
          <a:prstGeom prst="roundRect">
            <a:avLst>
              <a:gd name="adj" fmla="val 59259"/>
            </a:avLst>
          </a:prstGeom>
          <a:solidFill>
            <a:srgbClr val="0D11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626718" y="2018995"/>
            <a:ext cx="466344" cy="342900"/>
          </a:xfrm>
          <a:prstGeom prst="roundRect">
            <a:avLst>
              <a:gd name="adj" fmla="val 59259"/>
            </a:avLst>
          </a:prstGeom>
          <a:solidFill>
            <a:srgbClr val="0D11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71754" y="2457907"/>
            <a:ext cx="51252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인터페이스를 구성하는 React 기반 프론트엔드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886054" y="2104949"/>
            <a:ext cx="72054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8A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18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1741018" y="2104949"/>
            <a:ext cx="35661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8A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Vite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286500" y="1238098"/>
            <a:ext cx="5524805" cy="2133295"/>
          </a:xfrm>
          <a:prstGeom prst="roundRect">
            <a:avLst>
              <a:gd name="adj" fmla="val 306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486754" y="1466698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238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2" descr="gen-dedup-5340b43db1dad3207cedad0ec7ed3a46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90995" y="1571854"/>
            <a:ext cx="171907" cy="17190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981444" y="1438351"/>
            <a:ext cx="14100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백엔드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6981444" y="1686154"/>
            <a:ext cx="18708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Express 서버로 API 처리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486754" y="2018995"/>
            <a:ext cx="838505" cy="342900"/>
          </a:xfrm>
          <a:prstGeom prst="roundRect">
            <a:avLst>
              <a:gd name="adj" fmla="val 59259"/>
            </a:avLst>
          </a:prstGeom>
          <a:solidFill>
            <a:srgbClr val="0D11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417613" y="2018995"/>
            <a:ext cx="705002" cy="342900"/>
          </a:xfrm>
          <a:prstGeom prst="roundRect">
            <a:avLst>
              <a:gd name="adj" fmla="val 59259"/>
            </a:avLst>
          </a:prstGeom>
          <a:solidFill>
            <a:srgbClr val="0D11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486754" y="2457907"/>
            <a:ext cx="51252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RESTful API를 제공하는 Express 기반 백엔드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6601054" y="2104949"/>
            <a:ext cx="89154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ECF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Express.js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7531913" y="2104949"/>
            <a:ext cx="6318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ECF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Node.js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571500" y="3524098"/>
            <a:ext cx="5524805" cy="2133295"/>
          </a:xfrm>
          <a:prstGeom prst="roundRect">
            <a:avLst>
              <a:gd name="adj" fmla="val 306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71754" y="3752698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8957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3" descr="gen-dedup-c72ac5af8e716b7e2798d66271506244.png"/>
          <p:cNvPicPr>
            <a:picLocks noChangeAspect="1"/>
          </p:cNvPicPr>
          <p:nvPr/>
        </p:nvPicPr>
        <p:blipFill>
          <a:blip r:embed="rId6"/>
          <a:srcRect l="-760" r="-760"/>
          <a:stretch/>
        </p:blipFill>
        <p:spPr>
          <a:xfrm>
            <a:off x="886054" y="3857854"/>
            <a:ext cx="152705" cy="171907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1266444" y="3724351"/>
            <a:ext cx="159105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1266444" y="3972154"/>
            <a:ext cx="18242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 DB + RAWG API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771754" y="4304995"/>
            <a:ext cx="838505" cy="342900"/>
          </a:xfrm>
          <a:prstGeom prst="roundRect">
            <a:avLst>
              <a:gd name="adj" fmla="val 59259"/>
            </a:avLst>
          </a:prstGeom>
          <a:solidFill>
            <a:srgbClr val="0D11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702613" y="4304995"/>
            <a:ext cx="609905" cy="342900"/>
          </a:xfrm>
          <a:prstGeom prst="roundRect">
            <a:avLst>
              <a:gd name="adj" fmla="val 59259"/>
            </a:avLst>
          </a:prstGeom>
          <a:solidFill>
            <a:srgbClr val="0D11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771754" y="4743907"/>
            <a:ext cx="51252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 데이터를 관리하는 Supabase 및 RAWG API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886054" y="4390949"/>
            <a:ext cx="73152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957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1816913" y="4390949"/>
            <a:ext cx="38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957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RAWG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6286500" y="3524098"/>
            <a:ext cx="5524805" cy="2133295"/>
          </a:xfrm>
          <a:prstGeom prst="roundRect">
            <a:avLst>
              <a:gd name="adj" fmla="val 306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6486754" y="3752698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DB61A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1" name="Image 4" descr="gen-dedup-b1f7376ae2689700b2f4b9435fb4b35d.png"/>
          <p:cNvPicPr>
            <a:picLocks noChangeAspect="1"/>
          </p:cNvPicPr>
          <p:nvPr/>
        </p:nvPicPr>
        <p:blipFill>
          <a:blip r:embed="rId7"/>
          <a:srcRect l="-1064" r="-1064"/>
          <a:stretch/>
        </p:blipFill>
        <p:spPr>
          <a:xfrm>
            <a:off x="6567221" y="3857854"/>
            <a:ext cx="219456" cy="171907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6981444" y="3724351"/>
            <a:ext cx="10954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인프라</a:t>
            </a:r>
            <a:endParaRPr lang="en-US" sz="1300" dirty="0"/>
          </a:p>
        </p:txBody>
      </p:sp>
      <p:sp>
        <p:nvSpPr>
          <p:cNvPr id="43" name="Text 36"/>
          <p:cNvSpPr txBox="1"/>
          <p:nvPr/>
        </p:nvSpPr>
        <p:spPr>
          <a:xfrm>
            <a:off x="6981444" y="3972154"/>
            <a:ext cx="136519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NGINX가 요청 분배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6486754" y="4304995"/>
            <a:ext cx="638251" cy="342900"/>
          </a:xfrm>
          <a:prstGeom prst="roundRect">
            <a:avLst>
              <a:gd name="adj" fmla="val 59259"/>
            </a:avLst>
          </a:prstGeom>
          <a:solidFill>
            <a:srgbClr val="0D11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7210958" y="4304995"/>
            <a:ext cx="838505" cy="342900"/>
          </a:xfrm>
          <a:prstGeom prst="roundRect">
            <a:avLst>
              <a:gd name="adj" fmla="val 59259"/>
            </a:avLst>
          </a:prstGeom>
          <a:solidFill>
            <a:srgbClr val="0D11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86754" y="4743907"/>
            <a:ext cx="51252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NGINX가 /는 React로, /api는 Express로 분배</a:t>
            </a:r>
            <a:endParaRPr lang="en-US" sz="1000" dirty="0"/>
          </a:p>
        </p:txBody>
      </p:sp>
      <p:sp>
        <p:nvSpPr>
          <p:cNvPr id="47" name="Text 40"/>
          <p:cNvSpPr txBox="1"/>
          <p:nvPr/>
        </p:nvSpPr>
        <p:spPr>
          <a:xfrm>
            <a:off x="6601054" y="4390949"/>
            <a:ext cx="4096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B61A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NGINX</a:t>
            </a:r>
            <a:endParaRPr lang="en-US" sz="1000" dirty="0"/>
          </a:p>
        </p:txBody>
      </p:sp>
      <p:sp>
        <p:nvSpPr>
          <p:cNvPr id="48" name="Text 41"/>
          <p:cNvSpPr txBox="1"/>
          <p:nvPr/>
        </p:nvSpPr>
        <p:spPr>
          <a:xfrm>
            <a:off x="7325258" y="4390949"/>
            <a:ext cx="8119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B61A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→ React</a:t>
            </a:r>
            <a:endParaRPr lang="en-US" sz="1000" dirty="0"/>
          </a:p>
        </p:txBody>
      </p:sp>
      <p:sp>
        <p:nvSpPr>
          <p:cNvPr id="49" name="Shape 42"/>
          <p:cNvSpPr/>
          <p:nvPr/>
        </p:nvSpPr>
        <p:spPr>
          <a:xfrm>
            <a:off x="571500" y="5905195"/>
            <a:ext cx="11048695" cy="504749"/>
          </a:xfrm>
          <a:prstGeom prst="roundRect">
            <a:avLst>
              <a:gd name="adj" fmla="val 5469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50" name="Image 5" descr="gen-dedup-2aff16a613bd8dc0fe71f7235be55a3a.png"/>
          <p:cNvPicPr>
            <a:picLocks noChangeAspect="1"/>
          </p:cNvPicPr>
          <p:nvPr/>
        </p:nvPicPr>
        <p:blipFill>
          <a:blip r:embed="rId8"/>
          <a:srcRect l="-1507" r="-1507"/>
          <a:stretch/>
        </p:blipFill>
        <p:spPr>
          <a:xfrm>
            <a:off x="771754" y="6090818"/>
            <a:ext cx="171907" cy="133502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1019556" y="6057900"/>
            <a:ext cx="3849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로컬:</a:t>
            </a:r>
            <a:endParaRPr lang="en-US" sz="1100" dirty="0"/>
          </a:p>
        </p:txBody>
      </p:sp>
      <p:sp>
        <p:nvSpPr>
          <p:cNvPr id="52" name="Text 44"/>
          <p:cNvSpPr txBox="1"/>
          <p:nvPr/>
        </p:nvSpPr>
        <p:spPr>
          <a:xfrm>
            <a:off x="1398118" y="6057900"/>
            <a:ext cx="13496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NGINX (개발 환경)</a:t>
            </a:r>
            <a:endParaRPr lang="en-US" sz="1100" dirty="0"/>
          </a:p>
        </p:txBody>
      </p:sp>
      <p:pic>
        <p:nvPicPr>
          <p:cNvPr id="53" name="Image 6" descr="gen-dedup-8ab6cf8d3be46548cbd033d137c7c1ab.png"/>
          <p:cNvPicPr>
            <a:picLocks noChangeAspect="1"/>
          </p:cNvPicPr>
          <p:nvPr/>
        </p:nvPicPr>
        <p:blipFill>
          <a:blip r:embed="rId9"/>
          <a:srcRect l="-1507" r="-1507"/>
          <a:stretch/>
        </p:blipFill>
        <p:spPr>
          <a:xfrm>
            <a:off x="2720340" y="6090818"/>
            <a:ext cx="171907" cy="133502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2967228" y="6057900"/>
            <a:ext cx="3849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배포:</a:t>
            </a:r>
            <a:endParaRPr lang="en-US" sz="1100" dirty="0"/>
          </a:p>
        </p:txBody>
      </p:sp>
      <p:sp>
        <p:nvSpPr>
          <p:cNvPr id="55" name="Text 46"/>
          <p:cNvSpPr txBox="1"/>
          <p:nvPr/>
        </p:nvSpPr>
        <p:spPr>
          <a:xfrm>
            <a:off x="3346704" y="6057900"/>
            <a:ext cx="20976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Cloudflare Pages + Render</a:t>
            </a:r>
            <a:endParaRPr lang="en-US" sz="1100" dirty="0"/>
          </a:p>
        </p:txBody>
      </p:sp>
      <p:sp>
        <p:nvSpPr>
          <p:cNvPr id="56" name="Text 47"/>
          <p:cNvSpPr txBox="1"/>
          <p:nvPr/>
        </p:nvSpPr>
        <p:spPr>
          <a:xfrm>
            <a:off x="10495483" y="6067044"/>
            <a:ext cx="3337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상태:</a:t>
            </a:r>
            <a:endParaRPr lang="en-US" sz="900" dirty="0"/>
          </a:p>
        </p:txBody>
      </p:sp>
      <p:sp>
        <p:nvSpPr>
          <p:cNvPr id="57" name="Shape 48"/>
          <p:cNvSpPr/>
          <p:nvPr/>
        </p:nvSpPr>
        <p:spPr>
          <a:xfrm>
            <a:off x="10853014" y="6110021"/>
            <a:ext cx="95098" cy="95098"/>
          </a:xfrm>
          <a:prstGeom prst="ellipse">
            <a:avLst/>
          </a:prstGeom>
          <a:solidFill>
            <a:srgbClr val="3ECF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49"/>
          <p:cNvSpPr txBox="1"/>
          <p:nvPr/>
        </p:nvSpPr>
        <p:spPr>
          <a:xfrm>
            <a:off x="11044123" y="6067044"/>
            <a:ext cx="46177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ECF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중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gen-dedup-8ead96454b48102d20300c9d519ffea3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" y="1524305"/>
            <a:ext cx="4591202" cy="4401007"/>
          </a:xfrm>
          <a:prstGeom prst="roundRect">
            <a:avLst>
              <a:gd name="adj" fmla="val 89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524805" y="1524305"/>
            <a:ext cx="6115507" cy="4401007"/>
          </a:xfrm>
          <a:prstGeom prst="roundRect">
            <a:avLst>
              <a:gd name="adj" fmla="val 89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8" name="Image 1" descr="gen-dedup-fecee538fb2ffacf7a0d44915d5e275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67805" y="1809598"/>
            <a:ext cx="3810305" cy="3810305"/>
          </a:xfrm>
          <a:prstGeom prst="rect">
            <a:avLst/>
          </a:prstGeom>
        </p:spPr>
      </p:pic>
      <p:pic>
        <p:nvPicPr>
          <p:cNvPr id="9" name="Image 2" descr="gen-dedup-21237608cb0d024def4c1c43a4bf6f72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953098" y="2095805"/>
            <a:ext cx="3238805" cy="323880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71500" y="381305"/>
            <a:ext cx="110496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GameDrop 사이트 접속</a:t>
            </a:r>
            <a:endParaRPr lang="en-US" sz="3000" dirty="0"/>
          </a:p>
        </p:txBody>
      </p:sp>
      <p:sp>
        <p:nvSpPr>
          <p:cNvPr id="11" name="Text 6"/>
          <p:cNvSpPr txBox="1"/>
          <p:nvPr/>
        </p:nvSpPr>
        <p:spPr>
          <a:xfrm>
            <a:off x="571500" y="933602"/>
            <a:ext cx="11049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QR코드를 스캔하면 실제 배포된 GameDrop 페이지에 접속할 수 있습니다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1258214" y="1809598"/>
            <a:ext cx="359999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8A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GameDrop 소개</a:t>
            </a:r>
            <a:endParaRPr lang="en-US" sz="1800" dirty="0"/>
          </a:p>
        </p:txBody>
      </p:sp>
      <p:pic>
        <p:nvPicPr>
          <p:cNvPr id="13" name="Image 3" descr="gen-dedup-9774e70489d0771cd3a2c60980b6afa4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857707" y="1876349"/>
            <a:ext cx="286207" cy="228600"/>
          </a:xfrm>
          <a:prstGeom prst="rect">
            <a:avLst/>
          </a:prstGeom>
        </p:spPr>
      </p:pic>
      <p:pic>
        <p:nvPicPr>
          <p:cNvPr id="14" name="Image 4" descr="gen-dedup-164faf16e515d3bf06460f558cce4dea.png"/>
          <p:cNvPicPr>
            <a:picLocks noChangeAspect="1"/>
          </p:cNvPicPr>
          <p:nvPr/>
        </p:nvPicPr>
        <p:blipFill>
          <a:blip r:embed="rId7"/>
          <a:srcRect t="-842" b="-842"/>
          <a:stretch/>
        </p:blipFill>
        <p:spPr>
          <a:xfrm>
            <a:off x="857707" y="2514600"/>
            <a:ext cx="190195" cy="171907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162202" y="2476195"/>
            <a:ext cx="232714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 추천/정보 웹서비스</a:t>
            </a:r>
            <a:endParaRPr lang="en-US" sz="1500" dirty="0"/>
          </a:p>
        </p:txBody>
      </p:sp>
      <p:pic>
        <p:nvPicPr>
          <p:cNvPr id="16" name="Image 5" descr="gen-dedup-1eed5172652153e526a399fbca0a105c.png"/>
          <p:cNvPicPr>
            <a:picLocks noChangeAspect="1"/>
          </p:cNvPicPr>
          <p:nvPr/>
        </p:nvPicPr>
        <p:blipFill>
          <a:blip r:embed="rId8"/>
          <a:srcRect l="-760" r="-760"/>
          <a:stretch/>
        </p:blipFill>
        <p:spPr>
          <a:xfrm>
            <a:off x="857707" y="3086100"/>
            <a:ext cx="152705" cy="171907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123798" y="3047695"/>
            <a:ext cx="193121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출시 예정 게임 확인</a:t>
            </a:r>
            <a:endParaRPr lang="en-US" sz="1500" dirty="0"/>
          </a:p>
        </p:txBody>
      </p:sp>
      <p:pic>
        <p:nvPicPr>
          <p:cNvPr id="18" name="Image 6" descr="gen-dedup-a2a1b0c2dc1c0a4a823ab466e9cf3d63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57707" y="3657600"/>
            <a:ext cx="171907" cy="171907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1143000" y="3619195"/>
            <a:ext cx="141914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관심 게임 확인</a:t>
            </a:r>
            <a:endParaRPr lang="en-US" sz="1500" dirty="0"/>
          </a:p>
        </p:txBody>
      </p:sp>
      <p:pic>
        <p:nvPicPr>
          <p:cNvPr id="20" name="Image 7" descr="gen-dedup-f193553ce0a4b31e3c295e012c66dbde.png"/>
          <p:cNvPicPr>
            <a:picLocks noChangeAspect="1"/>
          </p:cNvPicPr>
          <p:nvPr/>
        </p:nvPicPr>
        <p:blipFill>
          <a:blip r:embed="rId10"/>
          <a:srcRect l="-1773" r="-1773"/>
          <a:stretch/>
        </p:blipFill>
        <p:spPr>
          <a:xfrm>
            <a:off x="857707" y="4229100"/>
            <a:ext cx="133502" cy="171907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1104595" y="4190695"/>
            <a:ext cx="237744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QR코드로 직접 접속 가능</a:t>
            </a:r>
            <a:endParaRPr lang="en-US" sz="1500" dirty="0"/>
          </a:p>
        </p:txBody>
      </p:sp>
      <p:sp>
        <p:nvSpPr>
          <p:cNvPr id="22" name="Text 12"/>
          <p:cNvSpPr txBox="1"/>
          <p:nvPr/>
        </p:nvSpPr>
        <p:spPr>
          <a:xfrm>
            <a:off x="4209898" y="6286500"/>
            <a:ext cx="74112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ECF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스마트폰 카메라로 QR코드를 스캔해 접속해보세요.</a:t>
            </a:r>
            <a:endParaRPr lang="en-US" sz="1500" dirty="0"/>
          </a:p>
        </p:txBody>
      </p:sp>
      <p:pic>
        <p:nvPicPr>
          <p:cNvPr id="23" name="Image 8" descr="gen-dedup-5f1de5afea00e00ad97d12370bfd4f4b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3924605" y="6338621"/>
            <a:ext cx="190195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gen-dedup-3bda7f2802a63454b6be3549f5ce770b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25305" y="-952805"/>
            <a:ext cx="2857500" cy="285750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1500" y="381305"/>
            <a:ext cx="1104961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NGINX의 역할</a:t>
            </a:r>
            <a:endParaRPr lang="en-US" sz="3100" dirty="0"/>
          </a:p>
        </p:txBody>
      </p:sp>
      <p:sp>
        <p:nvSpPr>
          <p:cNvPr id="8" name="Text 5"/>
          <p:cNvSpPr txBox="1"/>
          <p:nvPr/>
        </p:nvSpPr>
        <p:spPr>
          <a:xfrm>
            <a:off x="571500" y="961949"/>
            <a:ext cx="11049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 서비스에서 NGINX가 하는 3가지 핵심 일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71500" y="1524305"/>
            <a:ext cx="5524805" cy="2000707"/>
          </a:xfrm>
          <a:prstGeom prst="roundRect">
            <a:avLst>
              <a:gd name="adj" fmla="val 522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09244" y="1762049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1F6F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1" descr="gen-dedup-e40c11ce54b1315e14aab6e35df2683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33602" y="1886407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38351" y="1766621"/>
            <a:ext cx="12198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웹 서버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438351" y="2042770"/>
            <a:ext cx="14904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정적 파일 빠르게 제공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09244" y="2381098"/>
            <a:ext cx="1086307" cy="342900"/>
          </a:xfrm>
          <a:prstGeom prst="roundRect">
            <a:avLst>
              <a:gd name="adj" fmla="val 59259"/>
            </a:avLst>
          </a:prstGeom>
          <a:solidFill>
            <a:srgbClr val="0D11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984248" y="2381098"/>
            <a:ext cx="599846" cy="342900"/>
          </a:xfrm>
          <a:prstGeom prst="roundRect">
            <a:avLst>
              <a:gd name="adj" fmla="val 59259"/>
            </a:avLst>
          </a:prstGeom>
          <a:solidFill>
            <a:srgbClr val="0D11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09244" y="2838298"/>
            <a:ext cx="5048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정적 파일(HTML, CSS, JS, 이미지)을 빠르게 제공하는 웹 서버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923544" y="2467051"/>
            <a:ext cx="10094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8A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HTML/CSS/JS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2098548" y="2467051"/>
            <a:ext cx="4142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8A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286500" y="1524305"/>
            <a:ext cx="5524805" cy="2000707"/>
          </a:xfrm>
          <a:prstGeom prst="roundRect">
            <a:avLst>
              <a:gd name="adj" fmla="val 522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524244" y="1762049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238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2" descr="gen-dedup-6cc7ffc597dd21125020a60d27bb6f57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648602" y="188640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153351" y="1766621"/>
            <a:ext cx="172364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리버스 프록시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7153351" y="2042770"/>
            <a:ext cx="176570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요청을 알맞은 서버로 전달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524244" y="2381098"/>
            <a:ext cx="886054" cy="342900"/>
          </a:xfrm>
          <a:prstGeom prst="roundRect">
            <a:avLst>
              <a:gd name="adj" fmla="val 59259"/>
            </a:avLst>
          </a:prstGeom>
          <a:solidFill>
            <a:srgbClr val="0D11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498994" y="2381098"/>
            <a:ext cx="761695" cy="342900"/>
          </a:xfrm>
          <a:prstGeom prst="roundRect">
            <a:avLst>
              <a:gd name="adj" fmla="val 59259"/>
            </a:avLst>
          </a:prstGeom>
          <a:solidFill>
            <a:srgbClr val="0D11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524244" y="2838298"/>
            <a:ext cx="5048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요청을 받아 알맞은 서버(React/Express)로 전달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6638544" y="2467051"/>
            <a:ext cx="7735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ECF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 관리자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7613294" y="2467051"/>
            <a:ext cx="63550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ECF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 분배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571500" y="3715207"/>
            <a:ext cx="5524805" cy="2000707"/>
          </a:xfrm>
          <a:prstGeom prst="roundRect">
            <a:avLst>
              <a:gd name="adj" fmla="val 522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09244" y="3952951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8957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3" descr="gen-dedup-e5243316de3578cfd0ededab2fd96a9a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905256" y="4076395"/>
            <a:ext cx="286207" cy="22860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1438351" y="3957523"/>
            <a:ext cx="1525219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로드 밸런서</a:t>
            </a:r>
            <a:endParaRPr lang="en-US" sz="1500" dirty="0"/>
          </a:p>
        </p:txBody>
      </p:sp>
      <p:sp>
        <p:nvSpPr>
          <p:cNvPr id="33" name="Text 27"/>
          <p:cNvSpPr txBox="1"/>
          <p:nvPr/>
        </p:nvSpPr>
        <p:spPr>
          <a:xfrm>
            <a:off x="1438351" y="4233672"/>
            <a:ext cx="16276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 서버에 트래픽 분산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809244" y="4572000"/>
            <a:ext cx="761695" cy="342900"/>
          </a:xfrm>
          <a:prstGeom prst="roundRect">
            <a:avLst>
              <a:gd name="adj" fmla="val 59259"/>
            </a:avLst>
          </a:prstGeom>
          <a:solidFill>
            <a:srgbClr val="0D11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661465" y="4572000"/>
            <a:ext cx="724205" cy="342900"/>
          </a:xfrm>
          <a:prstGeom prst="roundRect">
            <a:avLst>
              <a:gd name="adj" fmla="val 59259"/>
            </a:avLst>
          </a:prstGeom>
          <a:solidFill>
            <a:srgbClr val="0D11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809244" y="5029200"/>
            <a:ext cx="5048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 서버에 트래픽을 분산하여 서버 부하 관리</a:t>
            </a:r>
            <a:endParaRPr lang="en-US" sz="1200" dirty="0"/>
          </a:p>
        </p:txBody>
      </p:sp>
      <p:sp>
        <p:nvSpPr>
          <p:cNvPr id="37" name="Text 31"/>
          <p:cNvSpPr txBox="1"/>
          <p:nvPr/>
        </p:nvSpPr>
        <p:spPr>
          <a:xfrm>
            <a:off x="923544" y="4657954"/>
            <a:ext cx="63550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957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부하 분산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1775765" y="4657954"/>
            <a:ext cx="5522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957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고가용성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6286500" y="3715207"/>
            <a:ext cx="5524805" cy="2000707"/>
          </a:xfrm>
          <a:prstGeom prst="roundRect">
            <a:avLst>
              <a:gd name="adj" fmla="val 5223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6524244" y="3981298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58A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1" name="Image 4" descr="gen-dedup-e306eaa17d6ab1614c118a2e939bfddd.png"/>
          <p:cNvPicPr>
            <a:picLocks noChangeAspect="1"/>
          </p:cNvPicPr>
          <p:nvPr/>
        </p:nvPicPr>
        <p:blipFill>
          <a:blip r:embed="rId7"/>
          <a:srcRect l="-760" r="-760"/>
          <a:stretch/>
        </p:blipFill>
        <p:spPr>
          <a:xfrm>
            <a:off x="6638544" y="4086454"/>
            <a:ext cx="152705" cy="171907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7019849" y="3952951"/>
            <a:ext cx="261975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43" name="Text 36"/>
          <p:cNvSpPr txBox="1"/>
          <p:nvPr/>
        </p:nvSpPr>
        <p:spPr>
          <a:xfrm>
            <a:off x="7019849" y="4200754"/>
            <a:ext cx="31510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NGINX = 한 도메인·한 포트로 구조를 깔끔하게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6524244" y="4533595"/>
            <a:ext cx="1591056" cy="619049"/>
          </a:xfrm>
          <a:prstGeom prst="roundRect">
            <a:avLst>
              <a:gd name="adj" fmla="val 36359"/>
            </a:avLst>
          </a:prstGeom>
          <a:solidFill>
            <a:srgbClr val="161B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6620256" y="4647895"/>
            <a:ext cx="14008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정적 파일</a:t>
            </a:r>
            <a:endParaRPr lang="en-US" sz="1000" dirty="0"/>
          </a:p>
        </p:txBody>
      </p:sp>
      <p:sp>
        <p:nvSpPr>
          <p:cNvPr id="46" name="Text 39"/>
          <p:cNvSpPr txBox="1"/>
          <p:nvPr/>
        </p:nvSpPr>
        <p:spPr>
          <a:xfrm>
            <a:off x="6620256" y="4876495"/>
            <a:ext cx="14008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제공</a:t>
            </a:r>
            <a:endParaRPr lang="en-US" sz="900" dirty="0"/>
          </a:p>
        </p:txBody>
      </p:sp>
      <p:sp>
        <p:nvSpPr>
          <p:cNvPr id="47" name="Shape 40"/>
          <p:cNvSpPr/>
          <p:nvPr/>
        </p:nvSpPr>
        <p:spPr>
          <a:xfrm>
            <a:off x="8255203" y="4533595"/>
            <a:ext cx="1591056" cy="619049"/>
          </a:xfrm>
          <a:prstGeom prst="roundRect">
            <a:avLst>
              <a:gd name="adj" fmla="val 36359"/>
            </a:avLst>
          </a:prstGeom>
          <a:solidFill>
            <a:srgbClr val="161B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8350301" y="4647895"/>
            <a:ext cx="14008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 분배</a:t>
            </a:r>
            <a:endParaRPr lang="en-US" sz="1000" dirty="0"/>
          </a:p>
        </p:txBody>
      </p:sp>
      <p:sp>
        <p:nvSpPr>
          <p:cNvPr id="49" name="Text 42"/>
          <p:cNvSpPr txBox="1"/>
          <p:nvPr/>
        </p:nvSpPr>
        <p:spPr>
          <a:xfrm>
            <a:off x="8350301" y="4876495"/>
            <a:ext cx="14008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알맞은 서버로</a:t>
            </a:r>
            <a:endParaRPr lang="en-US" sz="900" dirty="0"/>
          </a:p>
        </p:txBody>
      </p:sp>
      <p:sp>
        <p:nvSpPr>
          <p:cNvPr id="50" name="Shape 43"/>
          <p:cNvSpPr/>
          <p:nvPr/>
        </p:nvSpPr>
        <p:spPr>
          <a:xfrm>
            <a:off x="9985248" y="4533595"/>
            <a:ext cx="1591056" cy="619049"/>
          </a:xfrm>
          <a:prstGeom prst="roundRect">
            <a:avLst>
              <a:gd name="adj" fmla="val 36359"/>
            </a:avLst>
          </a:prstGeom>
          <a:solidFill>
            <a:srgbClr val="161B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4"/>
          <p:cNvSpPr txBox="1"/>
          <p:nvPr/>
        </p:nvSpPr>
        <p:spPr>
          <a:xfrm>
            <a:off x="10080346" y="4647895"/>
            <a:ext cx="14008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부하 관리</a:t>
            </a:r>
            <a:endParaRPr lang="en-US" sz="1000" dirty="0"/>
          </a:p>
        </p:txBody>
      </p:sp>
      <p:sp>
        <p:nvSpPr>
          <p:cNvPr id="52" name="Text 45"/>
          <p:cNvSpPr txBox="1"/>
          <p:nvPr/>
        </p:nvSpPr>
        <p:spPr>
          <a:xfrm>
            <a:off x="10080346" y="4876495"/>
            <a:ext cx="14008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트래픽 분산</a:t>
            </a:r>
            <a:endParaRPr lang="en-US" sz="900" dirty="0"/>
          </a:p>
        </p:txBody>
      </p:sp>
      <p:sp>
        <p:nvSpPr>
          <p:cNvPr id="53" name="Shape 46"/>
          <p:cNvSpPr/>
          <p:nvPr/>
        </p:nvSpPr>
        <p:spPr>
          <a:xfrm>
            <a:off x="571500" y="5905195"/>
            <a:ext cx="11048695" cy="504749"/>
          </a:xfrm>
          <a:prstGeom prst="roundRect">
            <a:avLst>
              <a:gd name="adj" fmla="val 8203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54" name="Image 5" descr="gen-dedup-3db841e05cd6510731cc8aabd7f585b1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19302" y="6090818"/>
            <a:ext cx="133502" cy="133502"/>
          </a:xfrm>
          <a:prstGeom prst="rect">
            <a:avLst/>
          </a:prstGeom>
        </p:spPr>
      </p:pic>
      <p:sp>
        <p:nvSpPr>
          <p:cNvPr id="55" name="Text 47"/>
          <p:cNvSpPr txBox="1"/>
          <p:nvPr/>
        </p:nvSpPr>
        <p:spPr>
          <a:xfrm>
            <a:off x="1047902" y="6057900"/>
            <a:ext cx="7690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도메인:</a:t>
            </a:r>
            <a:endParaRPr lang="en-US" sz="1100" dirty="0"/>
          </a:p>
        </p:txBody>
      </p:sp>
      <p:sp>
        <p:nvSpPr>
          <p:cNvPr id="56" name="Text 48"/>
          <p:cNvSpPr txBox="1"/>
          <p:nvPr/>
        </p:nvSpPr>
        <p:spPr>
          <a:xfrm>
            <a:off x="1751990" y="6057900"/>
            <a:ext cx="124724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http://localhost</a:t>
            </a:r>
            <a:endParaRPr lang="en-US" sz="1100" dirty="0"/>
          </a:p>
        </p:txBody>
      </p:sp>
      <p:pic>
        <p:nvPicPr>
          <p:cNvPr id="57" name="Image 6" descr="gen-dedup-b53f07efb12e18423d39064af21e7726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077870" y="6090818"/>
            <a:ext cx="133502" cy="133502"/>
          </a:xfrm>
          <a:prstGeom prst="rect">
            <a:avLst/>
          </a:prstGeom>
        </p:spPr>
      </p:pic>
      <p:sp>
        <p:nvSpPr>
          <p:cNvPr id="58" name="Text 49"/>
          <p:cNvSpPr txBox="1"/>
          <p:nvPr/>
        </p:nvSpPr>
        <p:spPr>
          <a:xfrm>
            <a:off x="3306470" y="6057900"/>
            <a:ext cx="7690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 분배:</a:t>
            </a:r>
            <a:endParaRPr lang="en-US" sz="1100" dirty="0"/>
          </a:p>
        </p:txBody>
      </p:sp>
      <p:sp>
        <p:nvSpPr>
          <p:cNvPr id="59" name="Text 50"/>
          <p:cNvSpPr txBox="1"/>
          <p:nvPr/>
        </p:nvSpPr>
        <p:spPr>
          <a:xfrm>
            <a:off x="4010558" y="6057900"/>
            <a:ext cx="20519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→ React, /api → Express</a:t>
            </a:r>
            <a:endParaRPr lang="en-US" sz="1100" dirty="0"/>
          </a:p>
        </p:txBody>
      </p:sp>
      <p:sp>
        <p:nvSpPr>
          <p:cNvPr id="60" name="Text 51"/>
          <p:cNvSpPr txBox="1"/>
          <p:nvPr/>
        </p:nvSpPr>
        <p:spPr>
          <a:xfrm>
            <a:off x="10238537" y="6062472"/>
            <a:ext cx="35935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상태:</a:t>
            </a:r>
            <a:endParaRPr lang="en-US" sz="1000" dirty="0"/>
          </a:p>
        </p:txBody>
      </p:sp>
      <p:sp>
        <p:nvSpPr>
          <p:cNvPr id="61" name="Shape 52"/>
          <p:cNvSpPr/>
          <p:nvPr/>
        </p:nvSpPr>
        <p:spPr>
          <a:xfrm>
            <a:off x="10635386" y="6110021"/>
            <a:ext cx="95098" cy="95098"/>
          </a:xfrm>
          <a:prstGeom prst="ellipse">
            <a:avLst/>
          </a:prstGeom>
          <a:solidFill>
            <a:srgbClr val="3ECF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53"/>
          <p:cNvSpPr txBox="1"/>
          <p:nvPr/>
        </p:nvSpPr>
        <p:spPr>
          <a:xfrm>
            <a:off x="10844784" y="6062472"/>
            <a:ext cx="63550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ECF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정상 작동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gen-dedup-3bda7f2802a63454b6be3549f5ce770b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" y="1333195"/>
            <a:ext cx="5753405" cy="5115154"/>
          </a:xfrm>
          <a:prstGeom prst="roundRect">
            <a:avLst>
              <a:gd name="adj" fmla="val 66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76695" y="1333195"/>
            <a:ext cx="5162702" cy="5115154"/>
          </a:xfrm>
          <a:prstGeom prst="roundRect">
            <a:avLst>
              <a:gd name="adj" fmla="val 66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71500" y="381305"/>
            <a:ext cx="11049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75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GameDrop에 NGINX 적용하는 방식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571500" y="914400"/>
            <a:ext cx="11049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설정 3개만 보기 - location /, location /api/, proxy_pass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81151" y="1524305"/>
            <a:ext cx="51151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8A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nginx.conf 설정</a:t>
            </a:r>
            <a:endParaRPr lang="en-US" sz="1500" dirty="0"/>
          </a:p>
        </p:txBody>
      </p:sp>
      <p:pic>
        <p:nvPicPr>
          <p:cNvPr id="11" name="Image 1" descr="gen-dedup-44e00c282c9b5a669c299e50339640eb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1695" y="1576426"/>
            <a:ext cx="142646" cy="19019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61695" y="1904695"/>
            <a:ext cx="5333695" cy="4496105"/>
          </a:xfrm>
          <a:prstGeom prst="roundRect">
            <a:avLst>
              <a:gd name="adj" fmla="val 68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914400" y="2076602"/>
            <a:ext cx="21717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NGINX 설정 - GameDrop 프로젝트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914400" y="2268626"/>
            <a:ext cx="50292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</a:t>
            </a: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914400" y="2461565"/>
            <a:ext cx="50292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listen</a:t>
            </a:r>
            <a:r>
              <a:rPr lang="en-US" sz="9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914400" y="2653589"/>
            <a:ext cx="50292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server_name</a:t>
            </a: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</a:t>
            </a: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1104595" y="2864815"/>
            <a:ext cx="19147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화면 요청 → React로 연결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914400" y="3057754"/>
            <a:ext cx="50292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</a:t>
            </a: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{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914400" y="3249778"/>
            <a:ext cx="50292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proxy_pass</a:t>
            </a: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http://localhost:5173</a:t>
            </a: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914400" y="3442716"/>
            <a:ext cx="50292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proxy_set_header</a:t>
            </a: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 $host</a:t>
            </a: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914400" y="3634740"/>
            <a:ext cx="50292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1104595" y="3846881"/>
            <a:ext cx="20574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API 요청 → Express로 연결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914400" y="4038905"/>
            <a:ext cx="50292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</a:t>
            </a: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/api/ {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914400" y="4230929"/>
            <a:ext cx="50292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proxy_pass</a:t>
            </a: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http://localhost:5000</a:t>
            </a: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914400" y="4423867"/>
            <a:ext cx="50292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proxy_set_header</a:t>
            </a: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 $host</a:t>
            </a: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914400" y="4615891"/>
            <a:ext cx="50292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1104595" y="4828032"/>
            <a:ext cx="12097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정적 파일 제공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914400" y="5020056"/>
            <a:ext cx="50292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</a:t>
            </a: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~* \\.(js|css|png|jpg|jpeg|gif|ico|svg)$ {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914400" y="5212994"/>
            <a:ext cx="50292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</a:t>
            </a: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/usr/share/nginx/html</a:t>
            </a: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914400" y="5405018"/>
            <a:ext cx="50292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expires</a:t>
            </a:r>
            <a:r>
              <a:rPr lang="en-US" sz="9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30d</a:t>
            </a: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914400" y="5597042"/>
            <a:ext cx="50292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914400" y="5789981"/>
            <a:ext cx="50292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6934810" y="1524305"/>
            <a:ext cx="44961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8A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설정 3개</a:t>
            </a:r>
            <a:endParaRPr lang="en-US" sz="1500" dirty="0"/>
          </a:p>
        </p:txBody>
      </p:sp>
      <p:pic>
        <p:nvPicPr>
          <p:cNvPr id="34" name="Image 2" descr="gen-dedup-6d4350d23f290def885fba0b595724cf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667805" y="1576426"/>
            <a:ext cx="190195" cy="190195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6667805" y="1952244"/>
            <a:ext cx="4762195" cy="752551"/>
          </a:xfrm>
          <a:prstGeom prst="roundRect">
            <a:avLst>
              <a:gd name="adj" fmla="val 24609"/>
            </a:avLst>
          </a:prstGeom>
          <a:solidFill>
            <a:srgbClr val="58A6FF">
              <a:alpha val="10000"/>
            </a:srgbClr>
          </a:solidFill>
          <a:ln w="12700">
            <a:solidFill>
              <a:srgbClr val="58A6FF">
                <a:alpha val="30000"/>
              </a:srgbClr>
            </a:solidFill>
            <a:prstDash val="solid"/>
          </a:ln>
        </p:spPr>
      </p:sp>
      <p:pic>
        <p:nvPicPr>
          <p:cNvPr id="36" name="Image 3" descr="gen-dedup-577599ed772cafe88853a8cd2b0f04c7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791249" y="2115007"/>
            <a:ext cx="152705" cy="152705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7019849" y="2076602"/>
            <a:ext cx="850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location /</a:t>
            </a:r>
            <a:endParaRPr lang="en-US" sz="1200" dirty="0"/>
          </a:p>
        </p:txBody>
      </p:sp>
      <p:sp>
        <p:nvSpPr>
          <p:cNvPr id="38" name="Text 32"/>
          <p:cNvSpPr txBox="1"/>
          <p:nvPr/>
        </p:nvSpPr>
        <p:spPr>
          <a:xfrm>
            <a:off x="10815523" y="2076602"/>
            <a:ext cx="495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요청</a:t>
            </a:r>
            <a:endParaRPr lang="en-US" sz="900" dirty="0"/>
          </a:p>
        </p:txBody>
      </p:sp>
      <p:sp>
        <p:nvSpPr>
          <p:cNvPr id="39" name="Text 33"/>
          <p:cNvSpPr txBox="1"/>
          <p:nvPr/>
        </p:nvSpPr>
        <p:spPr>
          <a:xfrm>
            <a:off x="6791249" y="2361895"/>
            <a:ext cx="50438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React 화면으로 연결. </a:t>
            </a:r>
            <a:r>
              <a:rPr lang="en-US" sz="9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proxy_pass http://localhost:5173</a:t>
            </a:r>
            <a:r>
              <a:rPr lang="en-US" sz="10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요청 전달 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6667805" y="2952598"/>
            <a:ext cx="4762195" cy="752551"/>
          </a:xfrm>
          <a:prstGeom prst="roundRect">
            <a:avLst>
              <a:gd name="adj" fmla="val 24609"/>
            </a:avLst>
          </a:prstGeom>
          <a:solidFill>
            <a:srgbClr val="58A6FF">
              <a:alpha val="10000"/>
            </a:srgbClr>
          </a:solidFill>
          <a:ln w="12700">
            <a:solidFill>
              <a:srgbClr val="58A6FF">
                <a:alpha val="30000"/>
              </a:srgbClr>
            </a:solidFill>
            <a:prstDash val="solid"/>
          </a:ln>
        </p:spPr>
      </p:sp>
      <p:pic>
        <p:nvPicPr>
          <p:cNvPr id="41" name="Image 4" descr="gen-dedup-f9ee8a247d874c44b635ae573396a37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791249" y="3114446"/>
            <a:ext cx="152705" cy="152705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7019849" y="3076956"/>
            <a:ext cx="12015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location /api/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0853928" y="307695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요청</a:t>
            </a:r>
            <a:endParaRPr lang="en-US" sz="900" dirty="0"/>
          </a:p>
        </p:txBody>
      </p:sp>
      <p:sp>
        <p:nvSpPr>
          <p:cNvPr id="44" name="Text 37"/>
          <p:cNvSpPr txBox="1"/>
          <p:nvPr/>
        </p:nvSpPr>
        <p:spPr>
          <a:xfrm>
            <a:off x="6791249" y="3362249"/>
            <a:ext cx="50758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Express 서버로 연결. </a:t>
            </a:r>
            <a:r>
              <a:rPr lang="en-US" sz="9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proxy_pass http://localhost:5000</a:t>
            </a:r>
            <a:r>
              <a:rPr lang="en-US" sz="10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요청 전달 </a:t>
            </a:r>
            <a:endParaRPr lang="en-US" sz="1000" dirty="0"/>
          </a:p>
        </p:txBody>
      </p:sp>
      <p:sp>
        <p:nvSpPr>
          <p:cNvPr id="45" name="Shape 38"/>
          <p:cNvSpPr/>
          <p:nvPr/>
        </p:nvSpPr>
        <p:spPr>
          <a:xfrm>
            <a:off x="6667805" y="3952951"/>
            <a:ext cx="4762195" cy="752551"/>
          </a:xfrm>
          <a:prstGeom prst="roundRect">
            <a:avLst>
              <a:gd name="adj" fmla="val 24609"/>
            </a:avLst>
          </a:prstGeom>
          <a:solidFill>
            <a:srgbClr val="58A6FF">
              <a:alpha val="10000"/>
            </a:srgbClr>
          </a:solidFill>
          <a:ln w="12700">
            <a:solidFill>
              <a:srgbClr val="58A6FF">
                <a:alpha val="30000"/>
              </a:srgbClr>
            </a:solidFill>
            <a:prstDash val="solid"/>
          </a:ln>
        </p:spPr>
      </p:sp>
      <p:pic>
        <p:nvPicPr>
          <p:cNvPr id="46" name="Image 5" descr="gen-dedup-d7bd2d6f0acecf0b94c46f3258d0e30d.png"/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6791249" y="4114800"/>
            <a:ext cx="133502" cy="152705"/>
          </a:xfrm>
          <a:prstGeom prst="rect">
            <a:avLst/>
          </a:prstGeom>
        </p:spPr>
      </p:pic>
      <p:sp>
        <p:nvSpPr>
          <p:cNvPr id="47" name="Text 39"/>
          <p:cNvSpPr txBox="1"/>
          <p:nvPr/>
        </p:nvSpPr>
        <p:spPr>
          <a:xfrm>
            <a:off x="7000646" y="4076395"/>
            <a:ext cx="9793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proxy_pass</a:t>
            </a:r>
            <a:endParaRPr lang="en-US" sz="1200" dirty="0"/>
          </a:p>
        </p:txBody>
      </p:sp>
      <p:sp>
        <p:nvSpPr>
          <p:cNvPr id="48" name="Text 40"/>
          <p:cNvSpPr txBox="1"/>
          <p:nvPr/>
        </p:nvSpPr>
        <p:spPr>
          <a:xfrm>
            <a:off x="10815523" y="4076395"/>
            <a:ext cx="495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 전달</a:t>
            </a:r>
            <a:endParaRPr lang="en-US" sz="900" dirty="0"/>
          </a:p>
        </p:txBody>
      </p:sp>
      <p:sp>
        <p:nvSpPr>
          <p:cNvPr id="49" name="Text 41"/>
          <p:cNvSpPr txBox="1"/>
          <p:nvPr/>
        </p:nvSpPr>
        <p:spPr>
          <a:xfrm>
            <a:off x="6791249" y="4362602"/>
            <a:ext cx="45153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다른 서버로 요청을 전달하는 명령어. </a:t>
            </a:r>
            <a:r>
              <a:rPr lang="en-US" sz="9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</a:t>
            </a:r>
            <a:r>
              <a:rPr lang="en-US" sz="10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시작하는 URL 지정 </a:t>
            </a:r>
            <a:endParaRPr lang="en-US" sz="1000" dirty="0"/>
          </a:p>
        </p:txBody>
      </p:sp>
      <p:sp>
        <p:nvSpPr>
          <p:cNvPr id="50" name="Shape 42"/>
          <p:cNvSpPr/>
          <p:nvPr/>
        </p:nvSpPr>
        <p:spPr>
          <a:xfrm>
            <a:off x="6667805" y="4953305"/>
            <a:ext cx="4762195" cy="1171346"/>
          </a:xfrm>
          <a:prstGeom prst="roundRect">
            <a:avLst>
              <a:gd name="adj" fmla="val 10155"/>
            </a:avLst>
          </a:prstGeom>
          <a:solidFill>
            <a:srgbClr val="3ECF8E">
              <a:alpha val="10000"/>
            </a:srgbClr>
          </a:solidFill>
          <a:ln w="12700">
            <a:solidFill>
              <a:srgbClr val="3ECF8E">
                <a:alpha val="30000"/>
              </a:srgbClr>
            </a:solidFill>
            <a:prstDash val="solid"/>
          </a:ln>
        </p:spPr>
      </p:sp>
      <p:sp>
        <p:nvSpPr>
          <p:cNvPr id="51" name="Text 43"/>
          <p:cNvSpPr txBox="1"/>
          <p:nvPr/>
        </p:nvSpPr>
        <p:spPr>
          <a:xfrm>
            <a:off x="6981444" y="5076749"/>
            <a:ext cx="43251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ECF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 완료 후 </a:t>
            </a:r>
            <a:endParaRPr lang="en-US" sz="1000" dirty="0"/>
          </a:p>
        </p:txBody>
      </p:sp>
      <p:sp>
        <p:nvSpPr>
          <p:cNvPr id="52" name="Text 44"/>
          <p:cNvSpPr txBox="1"/>
          <p:nvPr/>
        </p:nvSpPr>
        <p:spPr>
          <a:xfrm>
            <a:off x="6791249" y="5343754"/>
            <a:ext cx="4515307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1. </a:t>
            </a:r>
            <a:r>
              <a:rPr lang="en-US" sz="9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 -t</a:t>
            </a:r>
            <a:r>
              <a:rPr lang="en-US" sz="9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설정 검증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2. </a:t>
            </a:r>
            <a:r>
              <a:rPr lang="en-US" sz="9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 -s reload</a:t>
            </a:r>
            <a:r>
              <a:rPr lang="en-US" sz="9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설정 적용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3. </a:t>
            </a:r>
            <a:r>
              <a:rPr lang="en-US" sz="9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</a:t>
            </a:r>
            <a:r>
              <a:rPr lang="en-US" sz="9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접속 확인 </a:t>
            </a:r>
            <a:endParaRPr lang="en-US" sz="900" dirty="0"/>
          </a:p>
        </p:txBody>
      </p:sp>
      <p:pic>
        <p:nvPicPr>
          <p:cNvPr id="53" name="Image 6" descr="gen-dedup-bfa27a0d9d5ca588cb707a3b585969c8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791249" y="5112410"/>
            <a:ext cx="133502" cy="13350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gen-dedup-95bffa51d3dcfa66e753b4b1f81f9963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25305" y="-1429207"/>
            <a:ext cx="3810305" cy="3810305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1500" y="381305"/>
            <a:ext cx="110496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75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로컬 환경 구성</a:t>
            </a:r>
            <a:endParaRPr lang="en-US" sz="3300" dirty="0"/>
          </a:p>
        </p:txBody>
      </p:sp>
      <p:sp>
        <p:nvSpPr>
          <p:cNvPr id="8" name="Text 5"/>
          <p:cNvSpPr txBox="1"/>
          <p:nvPr/>
        </p:nvSpPr>
        <p:spPr>
          <a:xfrm>
            <a:off x="571500" y="1000354"/>
            <a:ext cx="11049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3단계로 끝내는 NGINX 실행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1500" y="1524305"/>
            <a:ext cx="3562502" cy="4019702"/>
          </a:xfrm>
          <a:prstGeom prst="roundRect">
            <a:avLst>
              <a:gd name="adj" fmla="val 109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1754" y="1438351"/>
            <a:ext cx="609905" cy="286207"/>
          </a:xfrm>
          <a:prstGeom prst="roundRect">
            <a:avLst>
              <a:gd name="adj" fmla="val 319489"/>
            </a:avLst>
          </a:prstGeom>
          <a:solidFill>
            <a:srgbClr val="4D4D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1754" y="1438351"/>
            <a:ext cx="609905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50800" rIns="1397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1단계 </a:t>
            </a:r>
            <a:endParaRPr lang="en-US" sz="1000" dirty="0"/>
          </a:p>
        </p:txBody>
      </p:sp>
      <p:pic>
        <p:nvPicPr>
          <p:cNvPr id="12" name="Image 1" descr="gen-dedup-e190ba3e1a15a3255636ac9aa70e15cc.png"/>
          <p:cNvPicPr>
            <a:picLocks noChangeAspect="1"/>
          </p:cNvPicPr>
          <p:nvPr/>
        </p:nvPicPr>
        <p:blipFill>
          <a:blip r:embed="rId4"/>
          <a:srcRect t="-45" b="-45"/>
          <a:stretch/>
        </p:blipFill>
        <p:spPr>
          <a:xfrm>
            <a:off x="809244" y="1976018"/>
            <a:ext cx="256946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81405" y="1952244"/>
            <a:ext cx="206380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개발 서버 실행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809244" y="2419502"/>
            <a:ext cx="308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 5173에서 화면 서버 시작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9244" y="2885846"/>
            <a:ext cx="3086100" cy="457200"/>
          </a:xfrm>
          <a:prstGeom prst="roundRect">
            <a:avLst>
              <a:gd name="adj" fmla="val 33333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09244" y="2885846"/>
            <a:ext cx="30861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1397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317797" y="1524305"/>
            <a:ext cx="3562502" cy="4019702"/>
          </a:xfrm>
          <a:prstGeom prst="roundRect">
            <a:avLst>
              <a:gd name="adj" fmla="val 109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518050" y="1438351"/>
            <a:ext cx="609905" cy="286207"/>
          </a:xfrm>
          <a:prstGeom prst="roundRect">
            <a:avLst>
              <a:gd name="adj" fmla="val 319489"/>
            </a:avLst>
          </a:prstGeom>
          <a:solidFill>
            <a:srgbClr val="4D4D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18050" y="1438351"/>
            <a:ext cx="609905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50800" rIns="1397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2단계 </a:t>
            </a:r>
            <a:endParaRPr lang="en-US" sz="1000" dirty="0"/>
          </a:p>
        </p:txBody>
      </p:sp>
      <p:pic>
        <p:nvPicPr>
          <p:cNvPr id="20" name="Image 2" descr="gen-dedup-b99f9ed44af878ccb6b2556e5d428bfb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56455" y="1976018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899355" y="1952244"/>
            <a:ext cx="223296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Express API 서버 실행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4556455" y="2419502"/>
            <a:ext cx="308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 5000에서 API 서버 시작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556455" y="2885846"/>
            <a:ext cx="3086100" cy="457200"/>
          </a:xfrm>
          <a:prstGeom prst="roundRect">
            <a:avLst>
              <a:gd name="adj" fmla="val 33333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556455" y="2885846"/>
            <a:ext cx="30861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1397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server.js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8064094" y="1524305"/>
            <a:ext cx="3562502" cy="4019702"/>
          </a:xfrm>
          <a:prstGeom prst="roundRect">
            <a:avLst>
              <a:gd name="adj" fmla="val 109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264347" y="1438351"/>
            <a:ext cx="609905" cy="286207"/>
          </a:xfrm>
          <a:prstGeom prst="roundRect">
            <a:avLst>
              <a:gd name="adj" fmla="val 319489"/>
            </a:avLst>
          </a:prstGeom>
          <a:solidFill>
            <a:srgbClr val="4D4D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264347" y="1438351"/>
            <a:ext cx="609905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50800" rIns="1397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3단계 </a:t>
            </a:r>
            <a:endParaRPr lang="en-US" sz="1000" dirty="0"/>
          </a:p>
        </p:txBody>
      </p:sp>
      <p:pic>
        <p:nvPicPr>
          <p:cNvPr id="28" name="Image 3" descr="gen-dedup-cf98f3d596b0d2dc69fa0bcdc240a73b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8302752" y="1976018"/>
            <a:ext cx="286207" cy="22860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702345" y="1952244"/>
            <a:ext cx="112745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NGINX 시작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8302752" y="2419502"/>
            <a:ext cx="308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http://localhost 접속하면 완료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8302752" y="2885846"/>
            <a:ext cx="3086100" cy="457200"/>
          </a:xfrm>
          <a:prstGeom prst="roundRect">
            <a:avLst>
              <a:gd name="adj" fmla="val 33333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8302752" y="2885846"/>
            <a:ext cx="30861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1397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 -s reload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571500" y="5715000"/>
            <a:ext cx="11048695" cy="857707"/>
          </a:xfrm>
          <a:prstGeom prst="roundRect">
            <a:avLst>
              <a:gd name="adj" fmla="val 18953"/>
            </a:avLst>
          </a:prstGeom>
          <a:solidFill>
            <a:srgbClr val="161B22"/>
          </a:solidFill>
          <a:ln w="25400">
            <a:solidFill>
              <a:srgbClr val="4D4DFF"/>
            </a:solidFill>
            <a:prstDash val="solid"/>
          </a:ln>
        </p:spPr>
      </p:sp>
      <p:pic>
        <p:nvPicPr>
          <p:cNvPr id="34" name="Image 4" descr="gen-dedup-7447b2f83a025d6e5ac04c96d8b12892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80898" y="6029554"/>
            <a:ext cx="228600" cy="22860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152144" y="5924398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확인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1152144" y="6172200"/>
            <a:ext cx="32534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접속 → React 화면 | /api 접속 → Express API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9673438" y="6057900"/>
            <a:ext cx="1743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gen-dedup-3bda7f2802a63454b6be3549f5ce770b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-952805" y="-952805"/>
            <a:ext cx="3810305" cy="3810305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1500" y="1476756"/>
            <a:ext cx="5352898" cy="2447849"/>
          </a:xfrm>
          <a:prstGeom prst="roundRect">
            <a:avLst>
              <a:gd name="adj" fmla="val 348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1500" y="4095598"/>
            <a:ext cx="5352898" cy="2210105"/>
          </a:xfrm>
          <a:prstGeom prst="roundRect">
            <a:avLst>
              <a:gd name="adj" fmla="val 428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9" name="Image 1" descr="gen-dedup-7824648b112bd2736d10ddfafd83b62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402" y="1809598"/>
            <a:ext cx="5433074" cy="2095805"/>
          </a:xfrm>
          <a:prstGeom prst="rect">
            <a:avLst/>
          </a:prstGeom>
        </p:spPr>
      </p:pic>
      <p:pic>
        <p:nvPicPr>
          <p:cNvPr id="10" name="Image 2" descr="gen-dedup-21292cf71a3e04dfc993336009e5eca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402" y="4429354"/>
            <a:ext cx="5429707" cy="185865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71500" y="476402"/>
            <a:ext cx="110496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전체 아키텍처 한눈에 보기</a:t>
            </a:r>
            <a:endParaRPr lang="en-US" sz="3000" dirty="0"/>
          </a:p>
        </p:txBody>
      </p:sp>
      <p:sp>
        <p:nvSpPr>
          <p:cNvPr id="12" name="Text 7"/>
          <p:cNvSpPr txBox="1"/>
          <p:nvPr/>
        </p:nvSpPr>
        <p:spPr>
          <a:xfrm>
            <a:off x="571500" y="1028700"/>
            <a:ext cx="11049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환경부터 배포 환경까지의 전체 데이터 흐름과 시스템 구조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761695" y="1666951"/>
            <a:ext cx="4953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8A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개발 환경 </a:t>
            </a:r>
            <a:r>
              <a:rPr lang="en-US" sz="1200" b="1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(Local Environment)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761695" y="2085746"/>
            <a:ext cx="4953305" cy="1333195"/>
          </a:xfrm>
          <a:prstGeom prst="roundRect">
            <a:avLst>
              <a:gd name="adj" fmla="val 783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914400" y="2762402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NGINX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914400" y="2991002"/>
            <a:ext cx="952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Port: 80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3495751" y="2210105"/>
            <a:ext cx="286207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endParaRPr lang="en-US" sz="900" dirty="0"/>
          </a:p>
        </p:txBody>
      </p:sp>
      <p:pic>
        <p:nvPicPr>
          <p:cNvPr id="18" name="Image 3" descr="gen-dedup-09f2d88f0ca92bda0d3328c3802e8cbb.png"/>
          <p:cNvPicPr>
            <a:picLocks noChangeAspect="1"/>
          </p:cNvPicPr>
          <p:nvPr/>
        </p:nvPicPr>
        <p:blipFill>
          <a:blip r:embed="rId6"/>
          <a:srcRect t="-1100" b="-1100"/>
          <a:stretch/>
        </p:blipFill>
        <p:spPr>
          <a:xfrm>
            <a:off x="3857854" y="2395728"/>
            <a:ext cx="114300" cy="13350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048049" y="2210105"/>
            <a:ext cx="1514246" cy="504749"/>
          </a:xfrm>
          <a:prstGeom prst="roundRect">
            <a:avLst>
              <a:gd name="adj" fmla="val 41017"/>
            </a:avLst>
          </a:prstGeom>
          <a:solidFill>
            <a:srgbClr val="21262D"/>
          </a:solidFill>
          <a:ln/>
        </p:spPr>
      </p:sp>
      <p:sp>
        <p:nvSpPr>
          <p:cNvPr id="20" name="Shape 14"/>
          <p:cNvSpPr/>
          <p:nvPr/>
        </p:nvSpPr>
        <p:spPr>
          <a:xfrm>
            <a:off x="4048049" y="2210105"/>
            <a:ext cx="28346" cy="504749"/>
          </a:xfrm>
          <a:prstGeom prst="roundRect">
            <a:avLst>
              <a:gd name="adj" fmla="val 730382"/>
            </a:avLst>
          </a:prstGeom>
          <a:solidFill>
            <a:srgbClr val="61DAFB"/>
          </a:solidFill>
          <a:ln w="12700">
            <a:solidFill>
              <a:srgbClr val="61DAFB">
                <a:alpha val="0"/>
              </a:srgbClr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4153205" y="2286000"/>
            <a:ext cx="1334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Vite 프론트엔드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4153205" y="2486254"/>
            <a:ext cx="13341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localhost:8080</a:t>
            </a:r>
            <a:endParaRPr lang="en-US" sz="800" dirty="0"/>
          </a:p>
        </p:txBody>
      </p:sp>
      <p:sp>
        <p:nvSpPr>
          <p:cNvPr id="23" name="Text 17"/>
          <p:cNvSpPr txBox="1"/>
          <p:nvPr/>
        </p:nvSpPr>
        <p:spPr>
          <a:xfrm>
            <a:off x="3495751" y="2790749"/>
            <a:ext cx="286207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/api</a:t>
            </a:r>
            <a:endParaRPr lang="en-US" sz="900" dirty="0"/>
          </a:p>
        </p:txBody>
      </p:sp>
      <p:pic>
        <p:nvPicPr>
          <p:cNvPr id="24" name="Image 4" descr="gen-dedup-09f2d88f0ca92bda0d3328c3802e8cbb.png"/>
          <p:cNvPicPr>
            <a:picLocks noChangeAspect="1"/>
          </p:cNvPicPr>
          <p:nvPr/>
        </p:nvPicPr>
        <p:blipFill>
          <a:blip r:embed="rId6"/>
          <a:srcRect t="-1100" b="-1100"/>
          <a:stretch/>
        </p:blipFill>
        <p:spPr>
          <a:xfrm>
            <a:off x="3857854" y="2976372"/>
            <a:ext cx="114300" cy="133502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048049" y="2790749"/>
            <a:ext cx="1514246" cy="504749"/>
          </a:xfrm>
          <a:prstGeom prst="roundRect">
            <a:avLst>
              <a:gd name="adj" fmla="val 41017"/>
            </a:avLst>
          </a:prstGeom>
          <a:solidFill>
            <a:srgbClr val="21262D"/>
          </a:solidFill>
          <a:ln/>
        </p:spPr>
      </p:sp>
      <p:sp>
        <p:nvSpPr>
          <p:cNvPr id="26" name="Shape 19"/>
          <p:cNvSpPr/>
          <p:nvPr/>
        </p:nvSpPr>
        <p:spPr>
          <a:xfrm>
            <a:off x="4048049" y="2790749"/>
            <a:ext cx="28346" cy="504749"/>
          </a:xfrm>
          <a:prstGeom prst="roundRect">
            <a:avLst>
              <a:gd name="adj" fmla="val 730382"/>
            </a:avLst>
          </a:prstGeom>
          <a:solidFill>
            <a:srgbClr val="68A063"/>
          </a:solidFill>
          <a:ln w="12700">
            <a:solidFill>
              <a:srgbClr val="68A063">
                <a:alpha val="0"/>
              </a:srgbClr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4153205" y="2866644"/>
            <a:ext cx="1334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Node 백엔드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4153205" y="3066898"/>
            <a:ext cx="13341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localhost:5000</a:t>
            </a:r>
            <a:endParaRPr lang="en-US" sz="800" dirty="0"/>
          </a:p>
        </p:txBody>
      </p:sp>
      <p:pic>
        <p:nvPicPr>
          <p:cNvPr id="29" name="Image 5" descr="gen-dedup-41185b5132d2d54c0b685dd3122f979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238098" y="2352751"/>
            <a:ext cx="304495" cy="304495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61695" y="4286707"/>
            <a:ext cx="4953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6E3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배포 환경 </a:t>
            </a:r>
            <a:r>
              <a:rPr lang="en-US" sz="1200" b="1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(Production Environment)</a:t>
            </a:r>
            <a:endParaRPr lang="en-US" sz="1500" dirty="0"/>
          </a:p>
        </p:txBody>
      </p:sp>
      <p:sp>
        <p:nvSpPr>
          <p:cNvPr id="31" name="Shape 23"/>
          <p:cNvSpPr/>
          <p:nvPr/>
        </p:nvSpPr>
        <p:spPr>
          <a:xfrm>
            <a:off x="761695" y="4705502"/>
            <a:ext cx="4953305" cy="1143000"/>
          </a:xfrm>
          <a:prstGeom prst="roundRect">
            <a:avLst>
              <a:gd name="adj" fmla="val 10667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914400" y="5375758"/>
            <a:ext cx="7150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User</a:t>
            </a:r>
            <a:endParaRPr lang="en-US" sz="900" dirty="0"/>
          </a:p>
        </p:txBody>
      </p:sp>
      <p:pic>
        <p:nvPicPr>
          <p:cNvPr id="33" name="Image 6" descr="gen-dedup-679400dbf0eb64d272f88fe88fb4af8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1822399" y="5210251"/>
            <a:ext cx="114300" cy="133502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2130552" y="5285232"/>
            <a:ext cx="8101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Cloudflare</a:t>
            </a:r>
            <a:endParaRPr lang="en-US" sz="900" dirty="0"/>
          </a:p>
        </p:txBody>
      </p:sp>
      <p:sp>
        <p:nvSpPr>
          <p:cNvPr id="35" name="Text 26"/>
          <p:cNvSpPr txBox="1"/>
          <p:nvPr/>
        </p:nvSpPr>
        <p:spPr>
          <a:xfrm>
            <a:off x="2130552" y="5485486"/>
            <a:ext cx="8101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Frontend</a:t>
            </a:r>
            <a:endParaRPr lang="en-US" sz="800" dirty="0"/>
          </a:p>
        </p:txBody>
      </p:sp>
      <p:pic>
        <p:nvPicPr>
          <p:cNvPr id="36" name="Image 7" descr="gen-dedup-679400dbf0eb64d272f88fe88fb4af8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3133649" y="5210251"/>
            <a:ext cx="114300" cy="133502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3441802" y="5285232"/>
            <a:ext cx="8101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Render</a:t>
            </a:r>
            <a:endParaRPr lang="en-US" sz="900" dirty="0"/>
          </a:p>
        </p:txBody>
      </p:sp>
      <p:sp>
        <p:nvSpPr>
          <p:cNvPr id="38" name="Text 28"/>
          <p:cNvSpPr txBox="1"/>
          <p:nvPr/>
        </p:nvSpPr>
        <p:spPr>
          <a:xfrm>
            <a:off x="3441802" y="5485486"/>
            <a:ext cx="8101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Backend API</a:t>
            </a:r>
            <a:endParaRPr lang="en-US" sz="800" dirty="0"/>
          </a:p>
        </p:txBody>
      </p:sp>
      <p:pic>
        <p:nvPicPr>
          <p:cNvPr id="39" name="Image 8" descr="gen-dedup-679400dbf0eb64d272f88fe88fb4af8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4444898" y="5210251"/>
            <a:ext cx="114300" cy="133502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4753051" y="5285232"/>
            <a:ext cx="8101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</a:t>
            </a:r>
            <a:endParaRPr lang="en-US" sz="900" dirty="0"/>
          </a:p>
        </p:txBody>
      </p:sp>
      <p:sp>
        <p:nvSpPr>
          <p:cNvPr id="41" name="Text 30"/>
          <p:cNvSpPr txBox="1"/>
          <p:nvPr/>
        </p:nvSpPr>
        <p:spPr>
          <a:xfrm>
            <a:off x="4753051" y="5485486"/>
            <a:ext cx="8101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PostgreSQL</a:t>
            </a:r>
            <a:endParaRPr lang="en-US" sz="800" dirty="0"/>
          </a:p>
        </p:txBody>
      </p:sp>
      <p:pic>
        <p:nvPicPr>
          <p:cNvPr id="42" name="Image 9" descr="gen-dedup-104e04e85a970dc2664f8436351c3b9e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147572" y="5016398"/>
            <a:ext cx="247802" cy="247802"/>
          </a:xfrm>
          <a:prstGeom prst="rect">
            <a:avLst/>
          </a:prstGeom>
        </p:spPr>
      </p:pic>
      <p:pic>
        <p:nvPicPr>
          <p:cNvPr id="43" name="Image 10" descr="gen-dedup-cd9459d31434b8d6ea643c5a0a5b0212.png"/>
          <p:cNvPicPr>
            <a:picLocks noChangeAspect="1"/>
          </p:cNvPicPr>
          <p:nvPr/>
        </p:nvPicPr>
        <p:blipFill>
          <a:blip r:embed="rId10"/>
          <a:srcRect l="-775" r="-775"/>
          <a:stretch/>
        </p:blipFill>
        <p:spPr>
          <a:xfrm>
            <a:off x="2378354" y="4925873"/>
            <a:ext cx="314554" cy="247802"/>
          </a:xfrm>
          <a:prstGeom prst="rect">
            <a:avLst/>
          </a:prstGeom>
        </p:spPr>
      </p:pic>
      <p:pic>
        <p:nvPicPr>
          <p:cNvPr id="44" name="Image 11" descr="gen-dedup-365f1bbc0f6ae632ef978fd3e2165229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3722522" y="4925873"/>
            <a:ext cx="247802" cy="247802"/>
          </a:xfrm>
          <a:prstGeom prst="rect">
            <a:avLst/>
          </a:prstGeom>
        </p:spPr>
      </p:pic>
      <p:pic>
        <p:nvPicPr>
          <p:cNvPr id="45" name="Image 12" descr="gen-dedup-b9ceea078f3d14756a6d998d503e7b8e.png"/>
          <p:cNvPicPr>
            <a:picLocks noChangeAspect="1"/>
          </p:cNvPicPr>
          <p:nvPr/>
        </p:nvPicPr>
        <p:blipFill>
          <a:blip r:embed="rId12"/>
          <a:srcRect l="-606" r="-606"/>
          <a:stretch/>
        </p:blipFill>
        <p:spPr>
          <a:xfrm>
            <a:off x="5048402" y="4925873"/>
            <a:ext cx="219456" cy="247802"/>
          </a:xfrm>
          <a:prstGeom prst="rect">
            <a:avLst/>
          </a:prstGeom>
        </p:spPr>
      </p:pic>
      <p:sp>
        <p:nvSpPr>
          <p:cNvPr id="46" name="Shape 31"/>
          <p:cNvSpPr/>
          <p:nvPr/>
        </p:nvSpPr>
        <p:spPr>
          <a:xfrm>
            <a:off x="6191402" y="1476756"/>
            <a:ext cx="5429707" cy="333756"/>
          </a:xfrm>
          <a:prstGeom prst="roundRect">
            <a:avLst>
              <a:gd name="adj" fmla="val 125245"/>
            </a:avLst>
          </a:prstGeom>
          <a:solidFill>
            <a:srgbClr val="161B22">
              <a:alpha val="90000"/>
            </a:srgbClr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7" name="Text 32"/>
          <p:cNvSpPr txBox="1"/>
          <p:nvPr/>
        </p:nvSpPr>
        <p:spPr>
          <a:xfrm>
            <a:off x="6516014" y="1552651"/>
            <a:ext cx="4953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nginx.conf 리버스 프록시 설정</a:t>
            </a:r>
            <a:endParaRPr lang="en-US" sz="900" dirty="0"/>
          </a:p>
        </p:txBody>
      </p:sp>
      <p:pic>
        <p:nvPicPr>
          <p:cNvPr id="48" name="Image 13" descr="gen-dedup-e95425d60f91ee11904a97f8b2824328.png"/>
          <p:cNvPicPr>
            <a:picLocks noChangeAspect="1"/>
          </p:cNvPicPr>
          <p:nvPr/>
        </p:nvPicPr>
        <p:blipFill>
          <a:blip r:embed="rId13"/>
          <a:srcRect l="-1358" r="-1358"/>
          <a:stretch/>
        </p:blipFill>
        <p:spPr>
          <a:xfrm>
            <a:off x="6344107" y="1587398"/>
            <a:ext cx="95098" cy="123444"/>
          </a:xfrm>
          <a:prstGeom prst="rect">
            <a:avLst/>
          </a:prstGeom>
        </p:spPr>
      </p:pic>
      <p:sp>
        <p:nvSpPr>
          <p:cNvPr id="49" name="Shape 33"/>
          <p:cNvSpPr/>
          <p:nvPr/>
        </p:nvSpPr>
        <p:spPr>
          <a:xfrm>
            <a:off x="6191402" y="4095598"/>
            <a:ext cx="5429707" cy="333756"/>
          </a:xfrm>
          <a:prstGeom prst="roundRect">
            <a:avLst>
              <a:gd name="adj" fmla="val 125245"/>
            </a:avLst>
          </a:prstGeom>
          <a:solidFill>
            <a:srgbClr val="161B22">
              <a:alpha val="90000"/>
            </a:srgbClr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0" name="Text 34"/>
          <p:cNvSpPr txBox="1"/>
          <p:nvPr/>
        </p:nvSpPr>
        <p:spPr>
          <a:xfrm>
            <a:off x="6563563" y="4172407"/>
            <a:ext cx="49057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완성된 반응형 GameDrop 서비스</a:t>
            </a:r>
            <a:endParaRPr lang="en-US" sz="900" dirty="0"/>
          </a:p>
        </p:txBody>
      </p:sp>
      <p:pic>
        <p:nvPicPr>
          <p:cNvPr id="51" name="Image 14" descr="gen-dedup-736a9cd708647520c5941631e71a06d5.png"/>
          <p:cNvPicPr>
            <a:picLocks noChangeAspect="1"/>
          </p:cNvPicPr>
          <p:nvPr/>
        </p:nvPicPr>
        <p:blipFill>
          <a:blip r:embed="rId14"/>
          <a:srcRect l="-1358" r="-1358"/>
          <a:stretch/>
        </p:blipFill>
        <p:spPr>
          <a:xfrm>
            <a:off x="6344107" y="4206240"/>
            <a:ext cx="142646" cy="1234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gen-dedup-3bda7f2802a63454b6be3549f5ce770b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195" y="5238598"/>
            <a:ext cx="2857500" cy="285750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1500" y="1333195"/>
            <a:ext cx="5257800" cy="5162702"/>
          </a:xfrm>
          <a:prstGeom prst="roundRect">
            <a:avLst>
              <a:gd name="adj" fmla="val 65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001207" y="1333195"/>
            <a:ext cx="5639105" cy="5162702"/>
          </a:xfrm>
          <a:prstGeom prst="roundRect">
            <a:avLst>
              <a:gd name="adj" fmla="val 65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9" name="Image 1" descr="gen-dedup-f527971c373b39339a660d698495822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95" y="2190902"/>
            <a:ext cx="4876495" cy="1734960"/>
          </a:xfrm>
          <a:prstGeom prst="rect">
            <a:avLst/>
          </a:prstGeom>
        </p:spPr>
      </p:pic>
      <p:pic>
        <p:nvPicPr>
          <p:cNvPr id="10" name="Image 2" descr="gen-dedup-affa0394d17d10fd19d344ecfa0e9a4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695" y="4286707"/>
            <a:ext cx="4876495" cy="97298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71500" y="381305"/>
            <a:ext cx="10478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75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라이브 배포 완료 + 트러블슈팅</a:t>
            </a:r>
            <a:endParaRPr lang="en-US" sz="2800" dirty="0"/>
          </a:p>
        </p:txBody>
      </p:sp>
      <p:sp>
        <p:nvSpPr>
          <p:cNvPr id="12" name="Text 7"/>
          <p:cNvSpPr txBox="1"/>
          <p:nvPr/>
        </p:nvSpPr>
        <p:spPr>
          <a:xfrm>
            <a:off x="571500" y="914400"/>
            <a:ext cx="10478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Cloudflare Pages와 Render.com을 통한 풀스택 배포 및 주요 이슈 해결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1047902" y="1524305"/>
            <a:ext cx="4572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8A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라이브 배포 완료</a:t>
            </a:r>
            <a:endParaRPr lang="en-US" sz="1600" dirty="0"/>
          </a:p>
        </p:txBody>
      </p:sp>
      <p:pic>
        <p:nvPicPr>
          <p:cNvPr id="14" name="Image 3" descr="gen-dedup-fc206414876b931f04185a4575264d39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61695" y="1588313"/>
            <a:ext cx="209398" cy="20939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71093" y="1904695"/>
            <a:ext cx="4648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Cloudflare Pages (프론트엔드 UI)</a:t>
            </a:r>
            <a:endParaRPr lang="en-US" sz="1200" dirty="0"/>
          </a:p>
        </p:txBody>
      </p:sp>
      <p:pic>
        <p:nvPicPr>
          <p:cNvPr id="16" name="Image 4" descr="gen-dedup-6f8518824fcd2090844953a949d3dc36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61695" y="1952244"/>
            <a:ext cx="152705" cy="1527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971093" y="4000500"/>
            <a:ext cx="4648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Render.com (백엔드 API)</a:t>
            </a:r>
            <a:endParaRPr lang="en-US" sz="1200" dirty="0"/>
          </a:p>
        </p:txBody>
      </p:sp>
      <p:pic>
        <p:nvPicPr>
          <p:cNvPr id="18" name="Image 5" descr="gen-dedup-19dd3fe7c097cb71c4adf162d6e3491c.png"/>
          <p:cNvPicPr>
            <a:picLocks noChangeAspect="1"/>
          </p:cNvPicPr>
          <p:nvPr/>
        </p:nvPicPr>
        <p:blipFill>
          <a:blip r:embed="rId8"/>
          <a:srcRect l="-7143" r="-7143"/>
          <a:stretch/>
        </p:blipFill>
        <p:spPr>
          <a:xfrm>
            <a:off x="761695" y="4048049"/>
            <a:ext cx="152705" cy="152705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761695" y="5333695"/>
            <a:ext cx="4858207" cy="857707"/>
          </a:xfrm>
          <a:prstGeom prst="roundRect">
            <a:avLst>
              <a:gd name="adj" fmla="val 14215"/>
            </a:avLst>
          </a:prstGeom>
          <a:solidFill>
            <a:srgbClr val="3ECF8E">
              <a:alpha val="10000"/>
            </a:srgbClr>
          </a:solidFill>
          <a:ln w="12700">
            <a:solidFill>
              <a:srgbClr val="3ECF8E">
                <a:alpha val="30000"/>
              </a:srgbClr>
            </a:solidFill>
            <a:prstDash val="solid"/>
          </a:ln>
        </p:spPr>
      </p:sp>
      <p:sp>
        <p:nvSpPr>
          <p:cNvPr id="20" name="Text 12"/>
          <p:cNvSpPr txBox="1"/>
          <p:nvPr/>
        </p:nvSpPr>
        <p:spPr>
          <a:xfrm>
            <a:off x="1086307" y="5458054"/>
            <a:ext cx="44101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ECF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성공적인 풀스택 연동 확인</a:t>
            </a:r>
            <a:endParaRPr lang="en-US" sz="1100" dirty="0"/>
          </a:p>
        </p:txBody>
      </p:sp>
      <p:sp>
        <p:nvSpPr>
          <p:cNvPr id="21" name="Text 13"/>
          <p:cNvSpPr txBox="1"/>
          <p:nvPr/>
        </p:nvSpPr>
        <p:spPr>
          <a:xfrm>
            <a:off x="886054" y="5695798"/>
            <a:ext cx="46104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반응형 UI가 정상 동작하며, 외부망 환경에서도 Supabase DB까지 API 통신이 원활합니다.</a:t>
            </a:r>
            <a:endParaRPr lang="en-US" sz="900" dirty="0"/>
          </a:p>
        </p:txBody>
      </p:sp>
      <p:pic>
        <p:nvPicPr>
          <p:cNvPr id="22" name="Image 6" descr="gen-dedup-a221e22becb535bf384b268da12bea95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86054" y="5494630"/>
            <a:ext cx="142646" cy="142646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6477610" y="1524305"/>
            <a:ext cx="4953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7B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주요 트러블슈팅</a:t>
            </a:r>
            <a:endParaRPr lang="en-US" sz="1600" dirty="0"/>
          </a:p>
        </p:txBody>
      </p:sp>
      <p:pic>
        <p:nvPicPr>
          <p:cNvPr id="24" name="Image 7" descr="gen-dedup-d8e6fd34100641f0912d42806cf25ee7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191402" y="1588313"/>
            <a:ext cx="209398" cy="209398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6191402" y="1952244"/>
            <a:ext cx="5238598" cy="1067105"/>
          </a:xfrm>
          <a:prstGeom prst="roundRect">
            <a:avLst>
              <a:gd name="adj" fmla="val 12241"/>
            </a:avLst>
          </a:prstGeom>
          <a:solidFill>
            <a:srgbClr val="FF7B72">
              <a:alpha val="10000"/>
            </a:srgbClr>
          </a:solidFill>
          <a:ln w="12700">
            <a:solidFill>
              <a:srgbClr val="FF7B72">
                <a:alpha val="30000"/>
              </a:srgbClr>
            </a:solidFill>
            <a:prstDash val="solid"/>
          </a:ln>
        </p:spPr>
      </p:sp>
      <p:sp>
        <p:nvSpPr>
          <p:cNvPr id="26" name="Text 16"/>
          <p:cNvSpPr txBox="1"/>
          <p:nvPr/>
        </p:nvSpPr>
        <p:spPr>
          <a:xfrm>
            <a:off x="6314846" y="2076602"/>
            <a:ext cx="4991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NGINX Welcome 페이지만 출력됨</a:t>
            </a:r>
            <a:endParaRPr lang="en-US" sz="1200" dirty="0"/>
          </a:p>
        </p:txBody>
      </p:sp>
      <p:sp>
        <p:nvSpPr>
          <p:cNvPr id="27" name="Shape 17"/>
          <p:cNvSpPr/>
          <p:nvPr/>
        </p:nvSpPr>
        <p:spPr>
          <a:xfrm>
            <a:off x="6314846" y="2381098"/>
            <a:ext cx="418795" cy="228600"/>
          </a:xfrm>
          <a:prstGeom prst="roundRect">
            <a:avLst>
              <a:gd name="adj" fmla="val 133333"/>
            </a:avLst>
          </a:prstGeom>
          <a:solidFill>
            <a:srgbClr val="FF7B72">
              <a:alpha val="15000"/>
            </a:srgbClr>
          </a:solidFill>
          <a:ln w="12700">
            <a:solidFill>
              <a:srgbClr val="FF7B72">
                <a:alpha val="30000"/>
              </a:srgbClr>
            </a:solidFill>
            <a:prstDash val="solid"/>
          </a:ln>
        </p:spPr>
      </p:sp>
      <p:sp>
        <p:nvSpPr>
          <p:cNvPr id="28" name="Text 18"/>
          <p:cNvSpPr txBox="1"/>
          <p:nvPr/>
        </p:nvSpPr>
        <p:spPr>
          <a:xfrm>
            <a:off x="6314846" y="2381098"/>
            <a:ext cx="4197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7B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현상</a:t>
            </a:r>
            <a:endParaRPr lang="en-US" sz="900" dirty="0"/>
          </a:p>
        </p:txBody>
      </p:sp>
      <p:sp>
        <p:nvSpPr>
          <p:cNvPr id="29" name="Text 19"/>
          <p:cNvSpPr txBox="1"/>
          <p:nvPr/>
        </p:nvSpPr>
        <p:spPr>
          <a:xfrm>
            <a:off x="6810451" y="2381098"/>
            <a:ext cx="38395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라우팅이 프로젝트 포트(8080)로 연결되지 않은 상태</a:t>
            </a:r>
            <a:endParaRPr lang="en-US" sz="1000" dirty="0"/>
          </a:p>
        </p:txBody>
      </p:sp>
      <p:sp>
        <p:nvSpPr>
          <p:cNvPr id="30" name="Shape 20"/>
          <p:cNvSpPr/>
          <p:nvPr/>
        </p:nvSpPr>
        <p:spPr>
          <a:xfrm>
            <a:off x="6314846" y="2667305"/>
            <a:ext cx="418795" cy="228600"/>
          </a:xfrm>
          <a:prstGeom prst="roundRect">
            <a:avLst>
              <a:gd name="adj" fmla="val 133333"/>
            </a:avLst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30000"/>
              </a:srgbClr>
            </a:solidFill>
            <a:prstDash val="solid"/>
          </a:ln>
        </p:spPr>
      </p:sp>
      <p:sp>
        <p:nvSpPr>
          <p:cNvPr id="31" name="Text 21"/>
          <p:cNvSpPr txBox="1"/>
          <p:nvPr/>
        </p:nvSpPr>
        <p:spPr>
          <a:xfrm>
            <a:off x="6314846" y="2667305"/>
            <a:ext cx="4197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해결</a:t>
            </a:r>
            <a:endParaRPr lang="en-US" sz="900" dirty="0"/>
          </a:p>
        </p:txBody>
      </p:sp>
      <p:sp>
        <p:nvSpPr>
          <p:cNvPr id="32" name="Text 22"/>
          <p:cNvSpPr txBox="1"/>
          <p:nvPr/>
        </p:nvSpPr>
        <p:spPr>
          <a:xfrm>
            <a:off x="6810451" y="2667305"/>
            <a:ext cx="41632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nginx.conf</a:t>
            </a:r>
            <a:r>
              <a:rPr lang="en-US" sz="10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</a:t>
            </a:r>
            <a:r>
              <a:rPr lang="en-US" sz="9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proxy_pass</a:t>
            </a:r>
            <a:r>
              <a:rPr lang="en-US" sz="10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확인 후 </a:t>
            </a:r>
            <a:r>
              <a:rPr lang="en-US" sz="9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 -s reload</a:t>
            </a:r>
            <a:r>
              <a:rPr lang="en-US" sz="10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실행</a:t>
            </a:r>
            <a:endParaRPr lang="en-US" sz="1000" dirty="0"/>
          </a:p>
        </p:txBody>
      </p:sp>
      <p:sp>
        <p:nvSpPr>
          <p:cNvPr id="33" name="Shape 23"/>
          <p:cNvSpPr/>
          <p:nvPr/>
        </p:nvSpPr>
        <p:spPr>
          <a:xfrm>
            <a:off x="6191402" y="3047695"/>
            <a:ext cx="5238598" cy="1067105"/>
          </a:xfrm>
          <a:prstGeom prst="roundRect">
            <a:avLst>
              <a:gd name="adj" fmla="val 12241"/>
            </a:avLst>
          </a:prstGeom>
          <a:solidFill>
            <a:srgbClr val="FF7B72">
              <a:alpha val="10000"/>
            </a:srgbClr>
          </a:solidFill>
          <a:ln w="12700">
            <a:solidFill>
              <a:srgbClr val="FF7B72">
                <a:alpha val="30000"/>
              </a:srgbClr>
            </a:solidFill>
            <a:prstDash val="solid"/>
          </a:ln>
        </p:spPr>
      </p:sp>
      <p:sp>
        <p:nvSpPr>
          <p:cNvPr id="34" name="Text 24"/>
          <p:cNvSpPr txBox="1"/>
          <p:nvPr/>
        </p:nvSpPr>
        <p:spPr>
          <a:xfrm>
            <a:off x="6314846" y="3172054"/>
            <a:ext cx="4991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Node 스크립트 권한 오류 (Windows)</a:t>
            </a:r>
            <a:endParaRPr lang="en-US" sz="1200" dirty="0"/>
          </a:p>
        </p:txBody>
      </p:sp>
      <p:sp>
        <p:nvSpPr>
          <p:cNvPr id="35" name="Shape 25"/>
          <p:cNvSpPr/>
          <p:nvPr/>
        </p:nvSpPr>
        <p:spPr>
          <a:xfrm>
            <a:off x="6314846" y="3476549"/>
            <a:ext cx="418795" cy="228600"/>
          </a:xfrm>
          <a:prstGeom prst="roundRect">
            <a:avLst>
              <a:gd name="adj" fmla="val 133333"/>
            </a:avLst>
          </a:prstGeom>
          <a:solidFill>
            <a:srgbClr val="FF7B72">
              <a:alpha val="15000"/>
            </a:srgbClr>
          </a:solidFill>
          <a:ln w="12700">
            <a:solidFill>
              <a:srgbClr val="FF7B72">
                <a:alpha val="30000"/>
              </a:srgbClr>
            </a:solidFill>
            <a:prstDash val="solid"/>
          </a:ln>
        </p:spPr>
      </p:sp>
      <p:sp>
        <p:nvSpPr>
          <p:cNvPr id="36" name="Text 26"/>
          <p:cNvSpPr txBox="1"/>
          <p:nvPr/>
        </p:nvSpPr>
        <p:spPr>
          <a:xfrm>
            <a:off x="6314846" y="3476549"/>
            <a:ext cx="4197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7B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현상</a:t>
            </a:r>
            <a:endParaRPr lang="en-US" sz="900" dirty="0"/>
          </a:p>
        </p:txBody>
      </p:sp>
      <p:sp>
        <p:nvSpPr>
          <p:cNvPr id="37" name="Text 27"/>
          <p:cNvSpPr txBox="1"/>
          <p:nvPr/>
        </p:nvSpPr>
        <p:spPr>
          <a:xfrm>
            <a:off x="6810451" y="3476549"/>
            <a:ext cx="37627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PowerShell의 기본 보안 정책으로 인해 npm 명령어 차단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6314846" y="3762756"/>
            <a:ext cx="418795" cy="228600"/>
          </a:xfrm>
          <a:prstGeom prst="roundRect">
            <a:avLst>
              <a:gd name="adj" fmla="val 133333"/>
            </a:avLst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30000"/>
              </a:srgbClr>
            </a:solidFill>
            <a:prstDash val="solid"/>
          </a:ln>
        </p:spPr>
      </p:sp>
      <p:sp>
        <p:nvSpPr>
          <p:cNvPr id="39" name="Text 29"/>
          <p:cNvSpPr txBox="1"/>
          <p:nvPr/>
        </p:nvSpPr>
        <p:spPr>
          <a:xfrm>
            <a:off x="6314846" y="3762756"/>
            <a:ext cx="4197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해결</a:t>
            </a:r>
            <a:endParaRPr lang="en-US" sz="900" dirty="0"/>
          </a:p>
        </p:txBody>
      </p:sp>
      <p:sp>
        <p:nvSpPr>
          <p:cNvPr id="40" name="Text 30"/>
          <p:cNvSpPr txBox="1"/>
          <p:nvPr/>
        </p:nvSpPr>
        <p:spPr>
          <a:xfrm>
            <a:off x="6810451" y="3762756"/>
            <a:ext cx="435528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권한 열기 후 </a:t>
            </a:r>
            <a:r>
              <a:rPr lang="en-US" sz="9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Set-ExecutionPolicy RemoteSigned</a:t>
            </a:r>
            <a:r>
              <a:rPr lang="en-US" sz="10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입력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6191402" y="4143146"/>
            <a:ext cx="5238598" cy="1067105"/>
          </a:xfrm>
          <a:prstGeom prst="roundRect">
            <a:avLst>
              <a:gd name="adj" fmla="val 12241"/>
            </a:avLst>
          </a:prstGeom>
          <a:solidFill>
            <a:srgbClr val="FF7B72">
              <a:alpha val="10000"/>
            </a:srgbClr>
          </a:solidFill>
          <a:ln w="12700">
            <a:solidFill>
              <a:srgbClr val="FF7B72">
                <a:alpha val="30000"/>
              </a:srgbClr>
            </a:solidFill>
            <a:prstDash val="solid"/>
          </a:ln>
        </p:spPr>
      </p:sp>
      <p:sp>
        <p:nvSpPr>
          <p:cNvPr id="42" name="Text 32"/>
          <p:cNvSpPr txBox="1"/>
          <p:nvPr/>
        </p:nvSpPr>
        <p:spPr>
          <a:xfrm>
            <a:off x="6314846" y="4267505"/>
            <a:ext cx="4991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ED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요청 시 CORS 차단</a:t>
            </a:r>
            <a:endParaRPr lang="en-US" sz="1200" dirty="0"/>
          </a:p>
        </p:txBody>
      </p:sp>
      <p:sp>
        <p:nvSpPr>
          <p:cNvPr id="43" name="Shape 33"/>
          <p:cNvSpPr/>
          <p:nvPr/>
        </p:nvSpPr>
        <p:spPr>
          <a:xfrm>
            <a:off x="6314846" y="4572000"/>
            <a:ext cx="418795" cy="228600"/>
          </a:xfrm>
          <a:prstGeom prst="roundRect">
            <a:avLst>
              <a:gd name="adj" fmla="val 133333"/>
            </a:avLst>
          </a:prstGeom>
          <a:solidFill>
            <a:srgbClr val="FF7B72">
              <a:alpha val="15000"/>
            </a:srgbClr>
          </a:solidFill>
          <a:ln w="12700">
            <a:solidFill>
              <a:srgbClr val="FF7B72">
                <a:alpha val="30000"/>
              </a:srgbClr>
            </a:solidFill>
            <a:prstDash val="solid"/>
          </a:ln>
        </p:spPr>
      </p:sp>
      <p:sp>
        <p:nvSpPr>
          <p:cNvPr id="44" name="Text 34"/>
          <p:cNvSpPr txBox="1"/>
          <p:nvPr/>
        </p:nvSpPr>
        <p:spPr>
          <a:xfrm>
            <a:off x="6314846" y="4572000"/>
            <a:ext cx="4197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7B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현상</a:t>
            </a:r>
            <a:endParaRPr lang="en-US" sz="900" dirty="0"/>
          </a:p>
        </p:txBody>
      </p:sp>
      <p:sp>
        <p:nvSpPr>
          <p:cNvPr id="45" name="Text 35"/>
          <p:cNvSpPr txBox="1"/>
          <p:nvPr/>
        </p:nvSpPr>
        <p:spPr>
          <a:xfrm>
            <a:off x="6810451" y="4572000"/>
            <a:ext cx="39511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배포된 프론트 도메인에서 백엔드 서버로의 리소스 요청 실패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6314846" y="4858207"/>
            <a:ext cx="418795" cy="228600"/>
          </a:xfrm>
          <a:prstGeom prst="roundRect">
            <a:avLst>
              <a:gd name="adj" fmla="val 133333"/>
            </a:avLst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30000"/>
              </a:srgbClr>
            </a:solidFill>
            <a:prstDash val="solid"/>
          </a:ln>
        </p:spPr>
      </p:sp>
      <p:sp>
        <p:nvSpPr>
          <p:cNvPr id="47" name="Text 37"/>
          <p:cNvSpPr txBox="1"/>
          <p:nvPr/>
        </p:nvSpPr>
        <p:spPr>
          <a:xfrm>
            <a:off x="6314846" y="4858207"/>
            <a:ext cx="4197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해결</a:t>
            </a:r>
            <a:endParaRPr lang="en-US" sz="900" dirty="0"/>
          </a:p>
        </p:txBody>
      </p:sp>
      <p:sp>
        <p:nvSpPr>
          <p:cNvPr id="48" name="Text 38"/>
          <p:cNvSpPr txBox="1"/>
          <p:nvPr/>
        </p:nvSpPr>
        <p:spPr>
          <a:xfrm>
            <a:off x="6810451" y="4858207"/>
            <a:ext cx="49149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Node 백엔드의 CORS 미들웨어 </a:t>
            </a:r>
            <a:r>
              <a:rPr lang="en-US" sz="9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</a:t>
            </a:r>
            <a:r>
              <a:rPr lang="en-US" sz="10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배열에 Cloudflare 배포 URL 등록</a:t>
            </a:r>
            <a:endParaRPr lang="en-US" sz="1000" dirty="0"/>
          </a:p>
        </p:txBody>
      </p:sp>
      <p:sp>
        <p:nvSpPr>
          <p:cNvPr id="49" name="Shape 39"/>
          <p:cNvSpPr/>
          <p:nvPr/>
        </p:nvSpPr>
        <p:spPr>
          <a:xfrm>
            <a:off x="6191402" y="5333695"/>
            <a:ext cx="5238598" cy="914400"/>
          </a:xfrm>
          <a:prstGeom prst="roundRect">
            <a:avLst>
              <a:gd name="adj" fmla="val 12500"/>
            </a:avLst>
          </a:prstGeom>
          <a:solidFill>
            <a:srgbClr val="58A6FF">
              <a:alpha val="10000"/>
            </a:srgbClr>
          </a:solidFill>
          <a:ln w="12700">
            <a:solidFill>
              <a:srgbClr val="58A6FF">
                <a:alpha val="30000"/>
              </a:srgbClr>
            </a:solidFill>
            <a:prstDash val="solid"/>
          </a:ln>
        </p:spPr>
      </p:sp>
      <p:sp>
        <p:nvSpPr>
          <p:cNvPr id="50" name="Text 40"/>
          <p:cNvSpPr txBox="1"/>
          <p:nvPr/>
        </p:nvSpPr>
        <p:spPr>
          <a:xfrm>
            <a:off x="6505042" y="5458054"/>
            <a:ext cx="48015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8A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확인 체크리스트</a:t>
            </a:r>
            <a:endParaRPr lang="en-US" sz="1000" dirty="0"/>
          </a:p>
        </p:txBody>
      </p:sp>
      <p:sp>
        <p:nvSpPr>
          <p:cNvPr id="51" name="Text 41"/>
          <p:cNvSpPr txBox="1"/>
          <p:nvPr/>
        </p:nvSpPr>
        <p:spPr>
          <a:xfrm>
            <a:off x="6476695" y="5724144"/>
            <a:ext cx="22384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프론트엔드 정상 동작</a:t>
            </a:r>
            <a:endParaRPr lang="en-US" sz="900" dirty="0"/>
          </a:p>
        </p:txBody>
      </p:sp>
      <p:sp>
        <p:nvSpPr>
          <p:cNvPr id="52" name="Text 42"/>
          <p:cNvSpPr txBox="1"/>
          <p:nvPr/>
        </p:nvSpPr>
        <p:spPr>
          <a:xfrm>
            <a:off x="6476695" y="5943600"/>
            <a:ext cx="22384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백엔드 API 응답 확인</a:t>
            </a:r>
            <a:endParaRPr lang="en-US" sz="900" dirty="0"/>
          </a:p>
        </p:txBody>
      </p:sp>
      <p:sp>
        <p:nvSpPr>
          <p:cNvPr id="53" name="Text 43"/>
          <p:cNvSpPr txBox="1"/>
          <p:nvPr/>
        </p:nvSpPr>
        <p:spPr>
          <a:xfrm>
            <a:off x="9068105" y="5724144"/>
            <a:ext cx="22384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데이터베이스 연결</a:t>
            </a:r>
            <a:endParaRPr lang="en-US" sz="900" dirty="0"/>
          </a:p>
        </p:txBody>
      </p:sp>
      <p:sp>
        <p:nvSpPr>
          <p:cNvPr id="54" name="Text 44"/>
          <p:cNvSpPr txBox="1"/>
          <p:nvPr/>
        </p:nvSpPr>
        <p:spPr>
          <a:xfrm>
            <a:off x="9068105" y="5943600"/>
            <a:ext cx="22384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CORS 설정 완료</a:t>
            </a:r>
            <a:endParaRPr lang="en-US" sz="900" dirty="0"/>
          </a:p>
        </p:txBody>
      </p:sp>
      <p:pic>
        <p:nvPicPr>
          <p:cNvPr id="55" name="Image 8" descr="gen-dedup-38a505e34dfaf010c502c3c7417a9489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314846" y="5493715"/>
            <a:ext cx="133502" cy="133502"/>
          </a:xfrm>
          <a:prstGeom prst="rect">
            <a:avLst/>
          </a:prstGeom>
        </p:spPr>
      </p:pic>
      <p:pic>
        <p:nvPicPr>
          <p:cNvPr id="56" name="Image 9" descr="gen-dedup-4eb316ee9fb39dce32ec78395be16f81.png"/>
          <p:cNvPicPr>
            <a:picLocks noChangeAspect="1"/>
          </p:cNvPicPr>
          <p:nvPr/>
        </p:nvPicPr>
        <p:blipFill>
          <a:blip r:embed="rId12"/>
          <a:srcRect l="-7143" r="-7143"/>
          <a:stretch/>
        </p:blipFill>
        <p:spPr>
          <a:xfrm>
            <a:off x="6314846" y="5758891"/>
            <a:ext cx="123444" cy="123444"/>
          </a:xfrm>
          <a:prstGeom prst="rect">
            <a:avLst/>
          </a:prstGeom>
        </p:spPr>
      </p:pic>
      <p:pic>
        <p:nvPicPr>
          <p:cNvPr id="57" name="Image 10" descr="gen-dedup-4eb316ee9fb39dce32ec78395be16f81.png"/>
          <p:cNvPicPr>
            <a:picLocks noChangeAspect="1"/>
          </p:cNvPicPr>
          <p:nvPr/>
        </p:nvPicPr>
        <p:blipFill>
          <a:blip r:embed="rId12"/>
          <a:srcRect l="-7143" r="-7143"/>
          <a:stretch/>
        </p:blipFill>
        <p:spPr>
          <a:xfrm>
            <a:off x="6314846" y="5978347"/>
            <a:ext cx="123444" cy="123444"/>
          </a:xfrm>
          <a:prstGeom prst="rect">
            <a:avLst/>
          </a:prstGeom>
        </p:spPr>
      </p:pic>
      <p:pic>
        <p:nvPicPr>
          <p:cNvPr id="58" name="Image 11" descr="gen-dedup-4eb316ee9fb39dce32ec78395be16f81.png"/>
          <p:cNvPicPr>
            <a:picLocks noChangeAspect="1"/>
          </p:cNvPicPr>
          <p:nvPr/>
        </p:nvPicPr>
        <p:blipFill>
          <a:blip r:embed="rId12"/>
          <a:srcRect l="-7143" r="-7143"/>
          <a:stretch/>
        </p:blipFill>
        <p:spPr>
          <a:xfrm>
            <a:off x="8906256" y="5758891"/>
            <a:ext cx="123444" cy="123444"/>
          </a:xfrm>
          <a:prstGeom prst="rect">
            <a:avLst/>
          </a:prstGeom>
        </p:spPr>
      </p:pic>
      <p:pic>
        <p:nvPicPr>
          <p:cNvPr id="59" name="Image 12" descr="gen-dedup-4eb316ee9fb39dce32ec78395be16f81.png"/>
          <p:cNvPicPr>
            <a:picLocks noChangeAspect="1"/>
          </p:cNvPicPr>
          <p:nvPr/>
        </p:nvPicPr>
        <p:blipFill>
          <a:blip r:embed="rId12"/>
          <a:srcRect l="-7143" r="-7143"/>
          <a:stretch/>
        </p:blipFill>
        <p:spPr>
          <a:xfrm>
            <a:off x="8906256" y="5978347"/>
            <a:ext cx="123444" cy="1234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gen-dedup-3bda7f2802a63454b6be3549f5ce770b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25305" y="-952805"/>
            <a:ext cx="2857500" cy="285750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1500" y="381305"/>
            <a:ext cx="110496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한계점 및 현재 단계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71500" y="952805"/>
            <a:ext cx="11049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프로젝트는 NGINX 기본 구조 이해에 초점 - 실제 서비스로 발전하기 위한 과제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71500" y="1476756"/>
            <a:ext cx="5524805" cy="4114800"/>
          </a:xfrm>
          <a:prstGeom prst="roundRect">
            <a:avLst>
              <a:gd name="adj" fmla="val 82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09244" y="1762049"/>
            <a:ext cx="418795" cy="418795"/>
          </a:xfrm>
          <a:prstGeom prst="roundRect">
            <a:avLst>
              <a:gd name="adj" fmla="val 79397"/>
            </a:avLst>
          </a:prstGeom>
          <a:solidFill>
            <a:srgbClr val="1F6F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1" descr="gen-dedup-9759be92866998a36c966028445a4bf9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23544" y="1876349"/>
            <a:ext cx="190195" cy="19019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71600" y="1714500"/>
            <a:ext cx="15343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단계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371600" y="2038198"/>
            <a:ext cx="19348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NGINX 기본 구조 이해 완료</a:t>
            </a:r>
            <a:endParaRPr lang="en-US" sz="1000" dirty="0"/>
          </a:p>
        </p:txBody>
      </p:sp>
      <p:pic>
        <p:nvPicPr>
          <p:cNvPr id="14" name="Image 2" descr="gen-dedup-9078a758431fafda09c0e3fca6f002f3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809244" y="2510028"/>
            <a:ext cx="152705" cy="15270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76249" y="2467051"/>
            <a:ext cx="177119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NGINX 기본 구조 이해</a:t>
            </a:r>
            <a:endParaRPr lang="en-US" sz="1200" dirty="0"/>
          </a:p>
        </p:txBody>
      </p:sp>
      <p:pic>
        <p:nvPicPr>
          <p:cNvPr id="16" name="Image 3" descr="gen-dedup-9078a758431fafda09c0e3fca6f002f3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809244" y="2862072"/>
            <a:ext cx="152705" cy="15270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76249" y="2819095"/>
            <a:ext cx="197784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프론트/백엔드 연결 흐름</a:t>
            </a:r>
            <a:endParaRPr lang="en-US" sz="1200" dirty="0"/>
          </a:p>
        </p:txBody>
      </p:sp>
      <p:pic>
        <p:nvPicPr>
          <p:cNvPr id="18" name="Image 4" descr="gen-dedup-9078a758431fafda09c0e3fca6f002f3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809244" y="3215030"/>
            <a:ext cx="152705" cy="1527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76249" y="3172054"/>
            <a:ext cx="164226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환경 실습 완료</a:t>
            </a:r>
            <a:endParaRPr lang="en-US" sz="1200" dirty="0"/>
          </a:p>
        </p:txBody>
      </p:sp>
      <p:pic>
        <p:nvPicPr>
          <p:cNvPr id="20" name="Image 5" descr="gen-dedup-9078a758431fafda09c0e3fca6f002f3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809244" y="3567074"/>
            <a:ext cx="152705" cy="15270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076249" y="3524098"/>
            <a:ext cx="164226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배포 구조 구현</a:t>
            </a:r>
            <a:endParaRPr lang="en-US" sz="1200" dirty="0"/>
          </a:p>
        </p:txBody>
      </p:sp>
      <p:sp>
        <p:nvSpPr>
          <p:cNvPr id="22" name="Text 14"/>
          <p:cNvSpPr txBox="1"/>
          <p:nvPr/>
        </p:nvSpPr>
        <p:spPr>
          <a:xfrm>
            <a:off x="809244" y="4000500"/>
            <a:ext cx="5048402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프로젝트는 NGINX의 기본적인 역할과 웹 서비스 구조를 이해하는 데 초점을 맞추고 있습니다. 프론트엔드와 백엔드의 연결 흐름을 파악하고, 로컬 환경에서 NGINX를 실행하는 방법을 실습했습니다.</a:t>
            </a:r>
            <a:endParaRPr lang="en-US" sz="1100" dirty="0"/>
          </a:p>
        </p:txBody>
      </p:sp>
      <p:sp>
        <p:nvSpPr>
          <p:cNvPr id="23" name="Shape 15"/>
          <p:cNvSpPr/>
          <p:nvPr/>
        </p:nvSpPr>
        <p:spPr>
          <a:xfrm>
            <a:off x="6286500" y="1476756"/>
            <a:ext cx="5524805" cy="4114800"/>
          </a:xfrm>
          <a:prstGeom prst="roundRect">
            <a:avLst>
              <a:gd name="adj" fmla="val 82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6524244" y="1762049"/>
            <a:ext cx="418795" cy="418795"/>
          </a:xfrm>
          <a:prstGeom prst="roundRect">
            <a:avLst>
              <a:gd name="adj" fmla="val 79397"/>
            </a:avLst>
          </a:prstGeom>
          <a:solidFill>
            <a:srgbClr val="238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6" descr="gen-dedup-47a4815856c64f69dbde611c1bd89c9e.png"/>
          <p:cNvPicPr>
            <a:picLocks noChangeAspect="1"/>
          </p:cNvPicPr>
          <p:nvPr/>
        </p:nvPicPr>
        <p:blipFill>
          <a:blip r:embed="rId6"/>
          <a:srcRect l="-16667" r="-16667"/>
          <a:stretch/>
        </p:blipFill>
        <p:spPr>
          <a:xfrm>
            <a:off x="6638544" y="1876349"/>
            <a:ext cx="190195" cy="190195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7086600" y="1714500"/>
            <a:ext cx="18672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 보완 사항</a:t>
            </a:r>
            <a:endParaRPr lang="en-US" sz="1600" dirty="0"/>
          </a:p>
        </p:txBody>
      </p:sp>
      <p:sp>
        <p:nvSpPr>
          <p:cNvPr id="27" name="Text 18"/>
          <p:cNvSpPr txBox="1"/>
          <p:nvPr/>
        </p:nvSpPr>
        <p:spPr>
          <a:xfrm>
            <a:off x="7086600" y="2038198"/>
            <a:ext cx="22622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서비스로 발전하기 위한 과제</a:t>
            </a:r>
            <a:endParaRPr lang="en-US" sz="1000" dirty="0"/>
          </a:p>
        </p:txBody>
      </p:sp>
      <p:sp>
        <p:nvSpPr>
          <p:cNvPr id="28" name="Shape 19"/>
          <p:cNvSpPr/>
          <p:nvPr/>
        </p:nvSpPr>
        <p:spPr>
          <a:xfrm>
            <a:off x="6524244" y="2547518"/>
            <a:ext cx="75895" cy="75895"/>
          </a:xfrm>
          <a:prstGeom prst="ellipse">
            <a:avLst/>
          </a:prstGeom>
          <a:solidFill>
            <a:srgbClr val="58A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6734556" y="2467051"/>
            <a:ext cx="259506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HTTPS 설정 및 SSL 인증서 적용</a:t>
            </a:r>
            <a:endParaRPr lang="en-US" sz="1200" dirty="0"/>
          </a:p>
        </p:txBody>
      </p:sp>
      <p:sp>
        <p:nvSpPr>
          <p:cNvPr id="30" name="Shape 21"/>
          <p:cNvSpPr/>
          <p:nvPr/>
        </p:nvSpPr>
        <p:spPr>
          <a:xfrm>
            <a:off x="6524244" y="2900477"/>
            <a:ext cx="75895" cy="75895"/>
          </a:xfrm>
          <a:prstGeom prst="ellipse">
            <a:avLst/>
          </a:prstGeom>
          <a:solidFill>
            <a:srgbClr val="58A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2"/>
          <p:cNvSpPr txBox="1"/>
          <p:nvPr/>
        </p:nvSpPr>
        <p:spPr>
          <a:xfrm>
            <a:off x="6734556" y="2819095"/>
            <a:ext cx="180959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로드 밸런싱 실제 적용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6524244" y="3252521"/>
            <a:ext cx="75895" cy="75895"/>
          </a:xfrm>
          <a:prstGeom prst="ellipse">
            <a:avLst/>
          </a:prstGeom>
          <a:solidFill>
            <a:srgbClr val="58A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4"/>
          <p:cNvSpPr txBox="1"/>
          <p:nvPr/>
        </p:nvSpPr>
        <p:spPr>
          <a:xfrm>
            <a:off x="6734556" y="3172054"/>
            <a:ext cx="214426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모니터링 시스템 구축</a:t>
            </a:r>
            <a:endParaRPr lang="en-US" sz="1200" dirty="0"/>
          </a:p>
        </p:txBody>
      </p:sp>
      <p:sp>
        <p:nvSpPr>
          <p:cNvPr id="34" name="Shape 25"/>
          <p:cNvSpPr/>
          <p:nvPr/>
        </p:nvSpPr>
        <p:spPr>
          <a:xfrm>
            <a:off x="6524244" y="3605479"/>
            <a:ext cx="75895" cy="75895"/>
          </a:xfrm>
          <a:prstGeom prst="ellipse">
            <a:avLst/>
          </a:prstGeom>
          <a:solidFill>
            <a:srgbClr val="58A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26"/>
          <p:cNvSpPr txBox="1"/>
          <p:nvPr/>
        </p:nvSpPr>
        <p:spPr>
          <a:xfrm>
            <a:off x="6734556" y="3524098"/>
            <a:ext cx="206105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CI/CD 자동화 파이프라인</a:t>
            </a:r>
            <a:endParaRPr lang="en-US" sz="1200" dirty="0"/>
          </a:p>
        </p:txBody>
      </p:sp>
      <p:sp>
        <p:nvSpPr>
          <p:cNvPr id="36" name="Text 27"/>
          <p:cNvSpPr txBox="1"/>
          <p:nvPr/>
        </p:nvSpPr>
        <p:spPr>
          <a:xfrm>
            <a:off x="6524244" y="4000500"/>
            <a:ext cx="504840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향후에는 HTTPS 설정, 로드 밸런싱, 모니터링 시스템 등을 추가하여 실제 서비스 수준으로 발전시킬 계획입니다.</a:t>
            </a:r>
            <a:endParaRPr lang="en-US" sz="1100" dirty="0"/>
          </a:p>
        </p:txBody>
      </p:sp>
      <p:sp>
        <p:nvSpPr>
          <p:cNvPr id="37" name="Shape 28"/>
          <p:cNvSpPr/>
          <p:nvPr/>
        </p:nvSpPr>
        <p:spPr>
          <a:xfrm>
            <a:off x="571500" y="5905195"/>
            <a:ext cx="11048695" cy="533095"/>
          </a:xfrm>
          <a:prstGeom prst="roundRect">
            <a:avLst>
              <a:gd name="adj" fmla="val 49008"/>
            </a:avLst>
          </a:prstGeom>
          <a:solidFill>
            <a:srgbClr val="1F6F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8" name="Image 7" descr="gen-dedup-8fd51225c59844bc4ba8e04e30215bc9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789274" y="6086246"/>
            <a:ext cx="171907" cy="171907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4075481" y="5905195"/>
            <a:ext cx="4334256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이번 발표는 웹 서비스 구조를 이해하기 위한 기반 단계입니다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gen-dedup-3bda7f2802a63454b6be3549f5ce770b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25305" y="-952805"/>
            <a:ext cx="2857500" cy="285750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1500" y="381305"/>
            <a:ext cx="110496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향후 계획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71500" y="933602"/>
            <a:ext cx="11049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GameDrop을 실제 서비스로 발전시키기 위한 다음 단계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1500" y="1333195"/>
            <a:ext cx="5524805" cy="2638044"/>
          </a:xfrm>
          <a:prstGeom prst="roundRect">
            <a:avLst>
              <a:gd name="adj" fmla="val 200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1754" y="1561795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1F6F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1" descr="gen-dedup-f29d48ca893b5fe07b95310ac4cf11ca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866851" y="1657807"/>
            <a:ext cx="190195" cy="19019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66444" y="1533449"/>
            <a:ext cx="16294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HTTPS 적용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266444" y="1781251"/>
            <a:ext cx="198699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8A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강화를 위한 암호화 통신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771754" y="2115007"/>
            <a:ext cx="51252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SSL 인증서</a:t>
            </a:r>
            <a:r>
              <a:rPr lang="en-US" sz="12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적용하여 데이터를 암호화하고, </a:t>
            </a: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HTTPS</a:t>
            </a:r>
            <a:r>
              <a:rPr lang="en-US" sz="12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안전한 통신을 구현합니다. 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952805" y="2686507"/>
            <a:ext cx="7872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ECF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암호화 통신 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1860804" y="2686507"/>
            <a:ext cx="64922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ECF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강화 </a:t>
            </a:r>
            <a:endParaRPr lang="en-US" sz="1000" dirty="0"/>
          </a:p>
        </p:txBody>
      </p:sp>
      <p:pic>
        <p:nvPicPr>
          <p:cNvPr id="17" name="Image 2" descr="gen-dedup-bfa27a0d9d5ca588cb707a3b585969c8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71754" y="2722169"/>
            <a:ext cx="133502" cy="133502"/>
          </a:xfrm>
          <a:prstGeom prst="rect">
            <a:avLst/>
          </a:prstGeom>
        </p:spPr>
      </p:pic>
      <p:pic>
        <p:nvPicPr>
          <p:cNvPr id="18" name="Image 3" descr="gen-dedup-bfa27a0d9d5ca588cb707a3b585969c8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79753" y="2722169"/>
            <a:ext cx="133502" cy="13350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286500" y="1333195"/>
            <a:ext cx="5524805" cy="2638044"/>
          </a:xfrm>
          <a:prstGeom prst="roundRect">
            <a:avLst>
              <a:gd name="adj" fmla="val 200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486754" y="1561795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2386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4" descr="gen-dedup-dbbbba018ed3a330ce52de903768364a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81851" y="1657807"/>
            <a:ext cx="190195" cy="19019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981444" y="1533449"/>
            <a:ext cx="159105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여러 개 사용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6981444" y="1781251"/>
            <a:ext cx="190378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ECF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트래픽이 많아지면 요청 분산</a:t>
            </a:r>
            <a:endParaRPr lang="en-US" sz="1000" dirty="0"/>
          </a:p>
        </p:txBody>
      </p:sp>
      <p:sp>
        <p:nvSpPr>
          <p:cNvPr id="24" name="Text 17"/>
          <p:cNvSpPr txBox="1"/>
          <p:nvPr/>
        </p:nvSpPr>
        <p:spPr>
          <a:xfrm>
            <a:off x="6486754" y="2115007"/>
            <a:ext cx="5125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 서버</a:t>
            </a:r>
            <a:r>
              <a:rPr lang="en-US" sz="12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두고 </a:t>
            </a: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NGINX</a:t>
            </a:r>
            <a:r>
              <a:rPr lang="en-US" sz="12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요청을 나눠주어 서버 부하를 분산합니다. 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6667805" y="2457907"/>
            <a:ext cx="64922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ECF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 분산 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7453274" y="2457907"/>
            <a:ext cx="64922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ECF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부하 분산 </a:t>
            </a:r>
            <a:endParaRPr lang="en-US" sz="1000" dirty="0"/>
          </a:p>
        </p:txBody>
      </p:sp>
      <p:pic>
        <p:nvPicPr>
          <p:cNvPr id="27" name="Image 5" descr="gen-dedup-bfa27a0d9d5ca588cb707a3b585969c8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86754" y="2493569"/>
            <a:ext cx="133502" cy="133502"/>
          </a:xfrm>
          <a:prstGeom prst="rect">
            <a:avLst/>
          </a:prstGeom>
        </p:spPr>
      </p:pic>
      <p:pic>
        <p:nvPicPr>
          <p:cNvPr id="28" name="Image 6" descr="gen-dedup-bfa27a0d9d5ca588cb707a3b585969c8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272223" y="2493569"/>
            <a:ext cx="133502" cy="133502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571500" y="3952951"/>
            <a:ext cx="5524805" cy="2638044"/>
          </a:xfrm>
          <a:prstGeom prst="roundRect">
            <a:avLst>
              <a:gd name="adj" fmla="val 200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1"/>
          <p:cNvSpPr/>
          <p:nvPr/>
        </p:nvSpPr>
        <p:spPr>
          <a:xfrm>
            <a:off x="771754" y="4181551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8957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7" descr="gen-dedup-be85cf1da32c6b5a9396cc6738a4ced7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66851" y="4276649"/>
            <a:ext cx="190195" cy="190195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1266444" y="4153205"/>
            <a:ext cx="13432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로그와 모니터링</a:t>
            </a:r>
            <a:endParaRPr lang="en-US" sz="1300" dirty="0"/>
          </a:p>
        </p:txBody>
      </p:sp>
      <p:sp>
        <p:nvSpPr>
          <p:cNvPr id="33" name="Text 23"/>
          <p:cNvSpPr txBox="1"/>
          <p:nvPr/>
        </p:nvSpPr>
        <p:spPr>
          <a:xfrm>
            <a:off x="1266444" y="4401007"/>
            <a:ext cx="16276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957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오류 확인과 사용자 분석</a:t>
            </a:r>
            <a:endParaRPr lang="en-US" sz="1000" dirty="0"/>
          </a:p>
        </p:txBody>
      </p:sp>
      <p:sp>
        <p:nvSpPr>
          <p:cNvPr id="34" name="Text 24"/>
          <p:cNvSpPr txBox="1"/>
          <p:nvPr/>
        </p:nvSpPr>
        <p:spPr>
          <a:xfrm>
            <a:off x="771754" y="4733849"/>
            <a:ext cx="54397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분석</a:t>
            </a:r>
            <a:r>
              <a:rPr lang="en-US" sz="12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오류를 확인하고, </a:t>
            </a: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모니터링</a:t>
            </a:r>
            <a:r>
              <a:rPr lang="en-US" sz="12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서버 상태를 파악합니다. </a:t>
            </a:r>
            <a:endParaRPr lang="en-US" sz="1200" dirty="0"/>
          </a:p>
        </p:txBody>
      </p:sp>
      <p:sp>
        <p:nvSpPr>
          <p:cNvPr id="35" name="Text 25"/>
          <p:cNvSpPr txBox="1"/>
          <p:nvPr/>
        </p:nvSpPr>
        <p:spPr>
          <a:xfrm>
            <a:off x="952805" y="5076749"/>
            <a:ext cx="64922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ECF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오류 확인 </a:t>
            </a:r>
            <a:endParaRPr lang="en-US" sz="1000" dirty="0"/>
          </a:p>
        </p:txBody>
      </p:sp>
      <p:sp>
        <p:nvSpPr>
          <p:cNvPr id="36" name="Text 26"/>
          <p:cNvSpPr txBox="1"/>
          <p:nvPr/>
        </p:nvSpPr>
        <p:spPr>
          <a:xfrm>
            <a:off x="1738274" y="5076749"/>
            <a:ext cx="64922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ECF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파악 </a:t>
            </a:r>
            <a:endParaRPr lang="en-US" sz="1000" dirty="0"/>
          </a:p>
        </p:txBody>
      </p:sp>
      <p:pic>
        <p:nvPicPr>
          <p:cNvPr id="37" name="Image 8" descr="gen-dedup-bfa27a0d9d5ca588cb707a3b585969c8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71754" y="5112410"/>
            <a:ext cx="133502" cy="133502"/>
          </a:xfrm>
          <a:prstGeom prst="rect">
            <a:avLst/>
          </a:prstGeom>
        </p:spPr>
      </p:pic>
      <p:pic>
        <p:nvPicPr>
          <p:cNvPr id="38" name="Image 9" descr="gen-dedup-bfa27a0d9d5ca588cb707a3b585969c8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557223" y="5112410"/>
            <a:ext cx="133502" cy="133502"/>
          </a:xfrm>
          <a:prstGeom prst="rect">
            <a:avLst/>
          </a:prstGeom>
        </p:spPr>
      </p:pic>
      <p:sp>
        <p:nvSpPr>
          <p:cNvPr id="39" name="Shape 27"/>
          <p:cNvSpPr/>
          <p:nvPr/>
        </p:nvSpPr>
        <p:spPr>
          <a:xfrm>
            <a:off x="6286500" y="3952951"/>
            <a:ext cx="5524805" cy="2638044"/>
          </a:xfrm>
          <a:prstGeom prst="roundRect">
            <a:avLst>
              <a:gd name="adj" fmla="val 200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Shape 28"/>
          <p:cNvSpPr/>
          <p:nvPr/>
        </p:nvSpPr>
        <p:spPr>
          <a:xfrm>
            <a:off x="6486754" y="4181551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DB61A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1" name="Image 10" descr="gen-dedup-0df2550d312469a5df9a6117aefa6e46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581851" y="4276649"/>
            <a:ext cx="190195" cy="190195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6981444" y="4153205"/>
            <a:ext cx="159105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배포</a:t>
            </a:r>
            <a:endParaRPr lang="en-US" sz="1300" dirty="0"/>
          </a:p>
        </p:txBody>
      </p:sp>
      <p:sp>
        <p:nvSpPr>
          <p:cNvPr id="43" name="Text 30"/>
          <p:cNvSpPr txBox="1"/>
          <p:nvPr/>
        </p:nvSpPr>
        <p:spPr>
          <a:xfrm>
            <a:off x="6981444" y="4401007"/>
            <a:ext cx="190378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B61A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수정하면 자동으로 반영</a:t>
            </a:r>
            <a:endParaRPr lang="en-US" sz="1000" dirty="0"/>
          </a:p>
        </p:txBody>
      </p:sp>
      <p:sp>
        <p:nvSpPr>
          <p:cNvPr id="44" name="Text 31"/>
          <p:cNvSpPr txBox="1"/>
          <p:nvPr/>
        </p:nvSpPr>
        <p:spPr>
          <a:xfrm>
            <a:off x="6486754" y="4733849"/>
            <a:ext cx="5125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배포</a:t>
            </a:r>
            <a:r>
              <a:rPr lang="en-US" sz="12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환경을 구축하여 코드 수정 시 자동으로 서버에 반영합니다. </a:t>
            </a:r>
            <a:endParaRPr lang="en-US" sz="1200" dirty="0"/>
          </a:p>
        </p:txBody>
      </p:sp>
      <p:sp>
        <p:nvSpPr>
          <p:cNvPr id="45" name="Text 32"/>
          <p:cNvSpPr txBox="1"/>
          <p:nvPr/>
        </p:nvSpPr>
        <p:spPr>
          <a:xfrm>
            <a:off x="6667805" y="5076749"/>
            <a:ext cx="64922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ECF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반영 </a:t>
            </a:r>
            <a:endParaRPr lang="en-US" sz="1000" dirty="0"/>
          </a:p>
        </p:txBody>
      </p:sp>
      <p:sp>
        <p:nvSpPr>
          <p:cNvPr id="46" name="Text 33"/>
          <p:cNvSpPr txBox="1"/>
          <p:nvPr/>
        </p:nvSpPr>
        <p:spPr>
          <a:xfrm>
            <a:off x="7453274" y="5076749"/>
            <a:ext cx="7872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ECF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자동화 </a:t>
            </a:r>
            <a:endParaRPr lang="en-US" sz="1000" dirty="0"/>
          </a:p>
        </p:txBody>
      </p:sp>
      <p:pic>
        <p:nvPicPr>
          <p:cNvPr id="47" name="Image 11" descr="gen-dedup-bfa27a0d9d5ca588cb707a3b585969c8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86754" y="5112410"/>
            <a:ext cx="133502" cy="133502"/>
          </a:xfrm>
          <a:prstGeom prst="rect">
            <a:avLst/>
          </a:prstGeom>
        </p:spPr>
      </p:pic>
      <p:pic>
        <p:nvPicPr>
          <p:cNvPr id="48" name="Image 12" descr="gen-dedup-bfa27a0d9d5ca588cb707a3b585969c8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272223" y="5112410"/>
            <a:ext cx="133502" cy="13350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gen-dedup-2db353d71bb9b1d8bae13ef9bb818f3f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25305" y="-1429207"/>
            <a:ext cx="3810305" cy="3810305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1500" y="333756"/>
            <a:ext cx="11049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75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트러블슈팅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571500" y="886054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NGINX 사용할 때 자주 만나는 문제 3가지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71500" y="1476756"/>
            <a:ext cx="11048695" cy="1399946"/>
          </a:xfrm>
          <a:prstGeom prst="roundRect">
            <a:avLst>
              <a:gd name="adj" fmla="val 710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19302" y="1966874"/>
            <a:ext cx="418795" cy="418795"/>
          </a:xfrm>
          <a:prstGeom prst="roundRect">
            <a:avLst>
              <a:gd name="adj" fmla="val 79397"/>
            </a:avLst>
          </a:prstGeom>
          <a:solidFill>
            <a:srgbClr val="F8514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1" descr="gen-dedup-968e54eb66db76d4fdf88a9d915aaec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33602" y="2081174"/>
            <a:ext cx="190195" cy="19019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80744" y="1928470"/>
            <a:ext cx="25438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Welcome 페이지만 보임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380744" y="2223821"/>
            <a:ext cx="302666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 파일 위치 확인, nginx -s reload 실행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8521294" y="1947672"/>
            <a:ext cx="28565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 파일: </a:t>
            </a:r>
            <a:r>
              <a:rPr lang="en-US" sz="1200" dirty="0">
                <a:solidFill>
                  <a:srgbClr val="58A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/etc/nginx/nginx.conf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8521294" y="2176272"/>
            <a:ext cx="28565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명령어: </a:t>
            </a:r>
            <a:r>
              <a:rPr lang="en-US" sz="1200" dirty="0">
                <a:solidFill>
                  <a:srgbClr val="3ECF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nginx -t &amp;&amp; nginx -s reload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71500" y="3000146"/>
            <a:ext cx="11048695" cy="1399946"/>
          </a:xfrm>
          <a:prstGeom prst="roundRect">
            <a:avLst>
              <a:gd name="adj" fmla="val 710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19302" y="3491179"/>
            <a:ext cx="418795" cy="418795"/>
          </a:xfrm>
          <a:prstGeom prst="roundRect">
            <a:avLst>
              <a:gd name="adj" fmla="val 79397"/>
            </a:avLst>
          </a:prstGeom>
          <a:solidFill>
            <a:srgbClr val="F8514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2" descr="gen-dedup-dbbbba018ed3a330ce52de903768364a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33602" y="3605479"/>
            <a:ext cx="190195" cy="19019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380744" y="3452774"/>
            <a:ext cx="22576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502 Bad Gateway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1380744" y="3748126"/>
            <a:ext cx="283829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백엔드 서버 실행 확인, 포트 번호 확인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9326880" y="3471977"/>
            <a:ext cx="20500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백엔드 서버: </a:t>
            </a:r>
            <a:r>
              <a:rPr lang="en-US" sz="1200" dirty="0">
                <a:solidFill>
                  <a:srgbClr val="3ECF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중 확인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9757562" y="3700577"/>
            <a:ext cx="1619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 번호: </a:t>
            </a:r>
            <a:r>
              <a:rPr lang="en-US" sz="1200" dirty="0">
                <a:solidFill>
                  <a:srgbClr val="58A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5000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71500" y="4524451"/>
            <a:ext cx="11048695" cy="1399946"/>
          </a:xfrm>
          <a:prstGeom prst="roundRect">
            <a:avLst>
              <a:gd name="adj" fmla="val 710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19302" y="5014570"/>
            <a:ext cx="418795" cy="418795"/>
          </a:xfrm>
          <a:prstGeom prst="roundRect">
            <a:avLst>
              <a:gd name="adj" fmla="val 79397"/>
            </a:avLst>
          </a:prstGeom>
          <a:solidFill>
            <a:srgbClr val="F8514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3" descr="gen-dedup-78615b4222709b78e59b7290517cf251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33602" y="5128870"/>
            <a:ext cx="190195" cy="19019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80744" y="4977079"/>
            <a:ext cx="18772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CORS 오류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1380744" y="5272430"/>
            <a:ext cx="22768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프론트와 백엔드 주소 설정 확인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9210751" y="4996282"/>
            <a:ext cx="21652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프론트엔드: </a:t>
            </a:r>
            <a:r>
              <a:rPr lang="en-US" sz="1200" dirty="0">
                <a:solidFill>
                  <a:srgbClr val="58A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localhost:5173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9400946" y="5224882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백엔드: </a:t>
            </a:r>
            <a:r>
              <a:rPr lang="en-US" sz="1200" dirty="0">
                <a:solidFill>
                  <a:srgbClr val="3ECF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localhost:5000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571500" y="6143854"/>
            <a:ext cx="11048695" cy="418795"/>
          </a:xfrm>
          <a:prstGeom prst="roundRect">
            <a:avLst>
              <a:gd name="adj" fmla="val 5954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1009498" y="6267298"/>
            <a:ext cx="603046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9D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 팁: 설정 변경 후에는 항상 nginx -t로 설정을 검증하고 nginx -s reload로 재시작하세요. 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285732" y="6279185"/>
            <a:ext cx="21433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8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 -t &amp;&amp; nginx -s reload</a:t>
            </a:r>
            <a:endParaRPr lang="en-US" sz="900" dirty="0"/>
          </a:p>
        </p:txBody>
      </p:sp>
      <p:pic>
        <p:nvPicPr>
          <p:cNvPr id="33" name="Image 4" descr="gen-dedup-99391909f191d63660a72078574ab8ee.png"/>
          <p:cNvPicPr>
            <a:picLocks noChangeAspect="1"/>
          </p:cNvPicPr>
          <p:nvPr/>
        </p:nvPicPr>
        <p:blipFill>
          <a:blip r:embed="rId7"/>
          <a:srcRect l="-16667" r="-16667"/>
          <a:stretch/>
        </p:blipFill>
        <p:spPr>
          <a:xfrm>
            <a:off x="771754" y="6284671"/>
            <a:ext cx="142646" cy="14264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gen-dedup-8ead96454b48102d20300c9d519ffea3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2805" y="-952805"/>
            <a:ext cx="2857500" cy="285750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572500" y="4762195"/>
            <a:ext cx="3810305" cy="3810305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71500" y="381305"/>
            <a:ext cx="11049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-75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마무리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571500" y="1028700"/>
            <a:ext cx="11049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NGINX를 통해 웹서비스 구조를 이해하고, 실무 적용 방법을 학습했습니다</a:t>
            </a:r>
            <a:endParaRPr lang="en-US" sz="1300" dirty="0"/>
          </a:p>
        </p:txBody>
      </p:sp>
      <p:pic>
        <p:nvPicPr>
          <p:cNvPr id="10" name="Image 1" descr="gen-dedup-83b1215c9edc6f3f825b188e7d000ef9.png"/>
          <p:cNvPicPr>
            <a:picLocks noChangeAspect="1"/>
          </p:cNvPicPr>
          <p:nvPr/>
        </p:nvPicPr>
        <p:blipFill>
          <a:blip r:embed="rId4"/>
          <a:srcRect t="-12" b="-12"/>
          <a:stretch/>
        </p:blipFill>
        <p:spPr>
          <a:xfrm>
            <a:off x="1714500" y="1524305"/>
            <a:ext cx="8762695" cy="189006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521915" y="1828800"/>
            <a:ext cx="7650785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GameDrop 같은 웹서비스는 </a:t>
            </a:r>
            <a:r>
              <a:rPr lang="en-US" sz="2100" b="1" dirty="0">
                <a:solidFill>
                  <a:srgbClr val="3ECF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</a:t>
            </a: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2100" b="1" dirty="0">
                <a:solidFill>
                  <a:srgbClr val="3ECF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</a:t>
            </a: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2100" b="1" dirty="0">
                <a:solidFill>
                  <a:srgbClr val="3ECF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</a:t>
            </a: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따로 움직입니다.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NGINX는 그 앞에서 사용자의 요청을 받아서 </a:t>
            </a:r>
            <a:r>
              <a:rPr lang="en-US" sz="2100" b="1" dirty="0">
                <a:solidFill>
                  <a:srgbClr val="58A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알맞은 곳으로 보내주는 입구 역할</a:t>
            </a: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합니다. </a:t>
            </a:r>
            <a:endParaRPr lang="en-US" sz="2100" dirty="0"/>
          </a:p>
        </p:txBody>
      </p:sp>
      <p:pic>
        <p:nvPicPr>
          <p:cNvPr id="12" name="Image 2" descr="gen-dedup-9b483600fa3afd836fb9228c03c99fd5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2085746" y="1919326"/>
            <a:ext cx="267005" cy="267005"/>
          </a:xfrm>
          <a:prstGeom prst="rect">
            <a:avLst/>
          </a:prstGeom>
        </p:spPr>
      </p:pic>
      <p:pic>
        <p:nvPicPr>
          <p:cNvPr id="13" name="Image 3" descr="gen-dedup-9c204a6ce5161afdd03e0a4be2131c7c.png"/>
          <p:cNvPicPr>
            <a:picLocks noChangeAspect="1"/>
          </p:cNvPicPr>
          <p:nvPr/>
        </p:nvPicPr>
        <p:blipFill>
          <a:blip r:embed="rId6"/>
          <a:srcRect l="-7143" r="-7143"/>
          <a:stretch/>
        </p:blipFill>
        <p:spPr>
          <a:xfrm>
            <a:off x="6864401" y="2772461"/>
            <a:ext cx="267005" cy="267005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71500" y="3715207"/>
            <a:ext cx="3562502" cy="1628546"/>
          </a:xfrm>
          <a:prstGeom prst="roundRect">
            <a:avLst>
              <a:gd name="adj" fmla="val 525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2111350" y="3962095"/>
            <a:ext cx="476402" cy="47640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4" descr="gen-dedup-324fbf5a381fe77b67b80dd829a15fe5.png"/>
          <p:cNvPicPr>
            <a:picLocks noChangeAspect="1"/>
          </p:cNvPicPr>
          <p:nvPr/>
        </p:nvPicPr>
        <p:blipFill>
          <a:blip r:embed="rId7"/>
          <a:srcRect l="-16667" r="-16667"/>
          <a:stretch/>
        </p:blipFill>
        <p:spPr>
          <a:xfrm>
            <a:off x="2253996" y="4105656"/>
            <a:ext cx="190195" cy="19019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71754" y="4581144"/>
            <a:ext cx="31629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정적 파일 제공</a:t>
            </a:r>
            <a:endParaRPr lang="en-US" sz="1300" dirty="0"/>
          </a:p>
        </p:txBody>
      </p:sp>
      <p:sp>
        <p:nvSpPr>
          <p:cNvPr id="18" name="Text 11"/>
          <p:cNvSpPr txBox="1"/>
          <p:nvPr/>
        </p:nvSpPr>
        <p:spPr>
          <a:xfrm>
            <a:off x="771754" y="4905756"/>
            <a:ext cx="31629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HTML, CSS, JS 등 정적 파일을 빠르게 제공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4317797" y="3715207"/>
            <a:ext cx="3562502" cy="1628546"/>
          </a:xfrm>
          <a:prstGeom prst="roundRect">
            <a:avLst>
              <a:gd name="adj" fmla="val 525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5857646" y="3962095"/>
            <a:ext cx="476402" cy="476402"/>
          </a:xfrm>
          <a:prstGeom prst="ellipse">
            <a:avLst/>
          </a:prstGeom>
          <a:solidFill>
            <a:srgbClr val="3ECF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5" descr="gen-dedup-498f5ec7507348d862a017d34b2ddaeb.png"/>
          <p:cNvPicPr>
            <a:picLocks noChangeAspect="1"/>
          </p:cNvPicPr>
          <p:nvPr/>
        </p:nvPicPr>
        <p:blipFill>
          <a:blip r:embed="rId8"/>
          <a:srcRect l="-7143" r="-7143"/>
          <a:stretch/>
        </p:blipFill>
        <p:spPr>
          <a:xfrm>
            <a:off x="6001207" y="4105656"/>
            <a:ext cx="190195" cy="19019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4518050" y="4581144"/>
            <a:ext cx="31629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 분배</a:t>
            </a:r>
            <a:endParaRPr lang="en-US" sz="1300" dirty="0"/>
          </a:p>
        </p:txBody>
      </p:sp>
      <p:sp>
        <p:nvSpPr>
          <p:cNvPr id="23" name="Text 15"/>
          <p:cNvSpPr txBox="1"/>
          <p:nvPr/>
        </p:nvSpPr>
        <p:spPr>
          <a:xfrm>
            <a:off x="4518050" y="4905756"/>
            <a:ext cx="31629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프론트엔드와 백엔드 요청을 적절히 분배</a:t>
            </a:r>
            <a:endParaRPr lang="en-US" sz="1000" dirty="0"/>
          </a:p>
        </p:txBody>
      </p:sp>
      <p:sp>
        <p:nvSpPr>
          <p:cNvPr id="24" name="Shape 16"/>
          <p:cNvSpPr/>
          <p:nvPr/>
        </p:nvSpPr>
        <p:spPr>
          <a:xfrm>
            <a:off x="8064094" y="3715207"/>
            <a:ext cx="3562502" cy="1628546"/>
          </a:xfrm>
          <a:prstGeom prst="roundRect">
            <a:avLst>
              <a:gd name="adj" fmla="val 525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9603943" y="3962095"/>
            <a:ext cx="476402" cy="476402"/>
          </a:xfrm>
          <a:prstGeom prst="ellipse">
            <a:avLst/>
          </a:prstGeom>
          <a:solidFill>
            <a:srgbClr val="D299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6" descr="gen-dedup-dbbbba018ed3a330ce52de903768364a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747504" y="4105656"/>
            <a:ext cx="190195" cy="190195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8264347" y="4581144"/>
            <a:ext cx="31629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연결</a:t>
            </a:r>
            <a:endParaRPr lang="en-US" sz="1300" dirty="0"/>
          </a:p>
        </p:txBody>
      </p:sp>
      <p:sp>
        <p:nvSpPr>
          <p:cNvPr id="28" name="Text 19"/>
          <p:cNvSpPr txBox="1"/>
          <p:nvPr/>
        </p:nvSpPr>
        <p:spPr>
          <a:xfrm>
            <a:off x="8264347" y="4905756"/>
            <a:ext cx="31629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 서버를 연결하고 관리</a:t>
            </a:r>
            <a:endParaRPr lang="en-US" sz="1000" dirty="0"/>
          </a:p>
        </p:txBody>
      </p:sp>
      <p:sp>
        <p:nvSpPr>
          <p:cNvPr id="29" name="Shape 20"/>
          <p:cNvSpPr/>
          <p:nvPr/>
        </p:nvSpPr>
        <p:spPr>
          <a:xfrm>
            <a:off x="571500" y="5810098"/>
            <a:ext cx="11048695" cy="657454"/>
          </a:xfrm>
          <a:prstGeom prst="roundRect">
            <a:avLst>
              <a:gd name="adj" fmla="val 32251"/>
            </a:avLst>
          </a:prstGeom>
          <a:solidFill>
            <a:srgbClr val="1F6F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7" descr="gen-dedup-fae6dd1cb11a798ce431446acbba8b42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436108" y="6024982"/>
            <a:ext cx="228600" cy="22860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5808269" y="6001207"/>
            <a:ext cx="113934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감사합니다!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gen-dedup-8ead96454b48102d20300c9d519ffea3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" y="1476756"/>
            <a:ext cx="5352898" cy="875995"/>
          </a:xfrm>
          <a:prstGeom prst="roundRect">
            <a:avLst>
              <a:gd name="adj" fmla="val 1815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096305" y="1476756"/>
            <a:ext cx="5352898" cy="875995"/>
          </a:xfrm>
          <a:prstGeom prst="roundRect">
            <a:avLst>
              <a:gd name="adj" fmla="val 1815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1500" y="2523744"/>
            <a:ext cx="5352898" cy="875995"/>
          </a:xfrm>
          <a:prstGeom prst="roundRect">
            <a:avLst>
              <a:gd name="adj" fmla="val 1815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96305" y="2523744"/>
            <a:ext cx="5352898" cy="875995"/>
          </a:xfrm>
          <a:prstGeom prst="roundRect">
            <a:avLst>
              <a:gd name="adj" fmla="val 1815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1500" y="3571646"/>
            <a:ext cx="5352898" cy="875995"/>
          </a:xfrm>
          <a:prstGeom prst="roundRect">
            <a:avLst>
              <a:gd name="adj" fmla="val 1815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96305" y="3571646"/>
            <a:ext cx="5352898" cy="875995"/>
          </a:xfrm>
          <a:prstGeom prst="roundRect">
            <a:avLst>
              <a:gd name="adj" fmla="val 1815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71500" y="4619549"/>
            <a:ext cx="5352898" cy="875995"/>
          </a:xfrm>
          <a:prstGeom prst="roundRect">
            <a:avLst>
              <a:gd name="adj" fmla="val 1815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96305" y="4619549"/>
            <a:ext cx="5352898" cy="875995"/>
          </a:xfrm>
          <a:prstGeom prst="roundRect">
            <a:avLst>
              <a:gd name="adj" fmla="val 1815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1500" y="5667451"/>
            <a:ext cx="5352898" cy="875995"/>
          </a:xfrm>
          <a:prstGeom prst="roundRect">
            <a:avLst>
              <a:gd name="adj" fmla="val 1815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96305" y="5667451"/>
            <a:ext cx="5352898" cy="875995"/>
          </a:xfrm>
          <a:prstGeom prst="roundRect">
            <a:avLst>
              <a:gd name="adj" fmla="val 1815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1500" y="381305"/>
            <a:ext cx="110496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참고 자료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571500" y="933602"/>
            <a:ext cx="11049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B94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발표에 사용된 기술 스택 및 배포 서비스 문서</a:t>
            </a:r>
            <a:endParaRPr lang="en-US" sz="1300" dirty="0"/>
          </a:p>
        </p:txBody>
      </p:sp>
      <p:pic>
        <p:nvPicPr>
          <p:cNvPr id="18" name="Image 1" descr="gen-dedup-76b47b87b5b79fe9fc64dca50befdf76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6054" y="1790395"/>
            <a:ext cx="228600" cy="2286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285646" y="1666951"/>
            <a:ext cx="4429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NGINX 공식 사이트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1285646" y="1933956"/>
            <a:ext cx="44293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8A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https://nginx.org/</a:t>
            </a:r>
            <a:endParaRPr lang="en-US" sz="1000" dirty="0"/>
          </a:p>
        </p:txBody>
      </p:sp>
      <p:pic>
        <p:nvPicPr>
          <p:cNvPr id="21" name="Image 2" descr="gen-dedup-4f83d41ede040b1b325e0f2fdc94f090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6409944" y="1790395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810451" y="1666951"/>
            <a:ext cx="4429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NGINX 공식 문서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6810451" y="1933956"/>
            <a:ext cx="44293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8A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https://nginx.org/en/docs/</a:t>
            </a:r>
            <a:endParaRPr lang="en-US" sz="1000" dirty="0"/>
          </a:p>
        </p:txBody>
      </p:sp>
      <p:pic>
        <p:nvPicPr>
          <p:cNvPr id="24" name="Image 3" descr="gen-dedup-d3aacb26079589f6206ef5978a36c328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86054" y="2838298"/>
            <a:ext cx="228600" cy="2286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85646" y="2714854"/>
            <a:ext cx="4429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공식 문서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1285646" y="2980944"/>
            <a:ext cx="44293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8A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https://react.dev/</a:t>
            </a:r>
            <a:endParaRPr lang="en-US" sz="1000" dirty="0"/>
          </a:p>
        </p:txBody>
      </p:sp>
      <p:pic>
        <p:nvPicPr>
          <p:cNvPr id="27" name="Image 4" descr="gen-dedup-1fd95b341112b92058417e124b6ee6c6.png"/>
          <p:cNvPicPr>
            <a:picLocks noChangeAspect="1"/>
          </p:cNvPicPr>
          <p:nvPr/>
        </p:nvPicPr>
        <p:blipFill>
          <a:blip r:embed="rId7"/>
          <a:srcRect l="-7143" r="-7143"/>
          <a:stretch/>
        </p:blipFill>
        <p:spPr>
          <a:xfrm>
            <a:off x="6409944" y="2838298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810451" y="2714854"/>
            <a:ext cx="4429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Vite 공식 문서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6810451" y="2980944"/>
            <a:ext cx="44293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8A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https://vite.dev/</a:t>
            </a:r>
            <a:endParaRPr lang="en-US" sz="1000" dirty="0"/>
          </a:p>
        </p:txBody>
      </p:sp>
      <p:pic>
        <p:nvPicPr>
          <p:cNvPr id="30" name="Image 5" descr="gen-dedup-e181c48b875211f9430ee6eac85494c6.png"/>
          <p:cNvPicPr>
            <a:picLocks noChangeAspect="1"/>
          </p:cNvPicPr>
          <p:nvPr/>
        </p:nvPicPr>
        <p:blipFill>
          <a:blip r:embed="rId8"/>
          <a:srcRect t="-12500" b="-12500"/>
          <a:stretch/>
        </p:blipFill>
        <p:spPr>
          <a:xfrm>
            <a:off x="886054" y="388620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285646" y="3762756"/>
            <a:ext cx="4429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Express 공식 문서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1285646" y="4028846"/>
            <a:ext cx="44293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8A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https://expressjs.com/</a:t>
            </a:r>
            <a:endParaRPr lang="en-US" sz="1000" dirty="0"/>
          </a:p>
        </p:txBody>
      </p:sp>
      <p:pic>
        <p:nvPicPr>
          <p:cNvPr id="33" name="Image 6" descr="gen-dedup-01fdb665f4ed3312bb74d50751a81224.png"/>
          <p:cNvPicPr>
            <a:picLocks noChangeAspect="1"/>
          </p:cNvPicPr>
          <p:nvPr/>
        </p:nvPicPr>
        <p:blipFill>
          <a:blip r:embed="rId9"/>
          <a:srcRect l="-7143" r="-7143"/>
          <a:stretch/>
        </p:blipFill>
        <p:spPr>
          <a:xfrm>
            <a:off x="6409944" y="3886200"/>
            <a:ext cx="228600" cy="22860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6810451" y="3762756"/>
            <a:ext cx="4429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Node.js 공식 사이트</a:t>
            </a:r>
            <a:endParaRPr lang="en-US" sz="1200" dirty="0"/>
          </a:p>
        </p:txBody>
      </p:sp>
      <p:sp>
        <p:nvSpPr>
          <p:cNvPr id="35" name="Text 26"/>
          <p:cNvSpPr txBox="1"/>
          <p:nvPr/>
        </p:nvSpPr>
        <p:spPr>
          <a:xfrm>
            <a:off x="6810451" y="4028846"/>
            <a:ext cx="44293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8A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https://nodejs.org/</a:t>
            </a:r>
            <a:endParaRPr lang="en-US" sz="1000" dirty="0"/>
          </a:p>
        </p:txBody>
      </p:sp>
      <p:pic>
        <p:nvPicPr>
          <p:cNvPr id="36" name="Image 7" descr="gen-dedup-c092c4d8729f62556dcef62b5cb5ad16.png"/>
          <p:cNvPicPr>
            <a:picLocks noChangeAspect="1"/>
          </p:cNvPicPr>
          <p:nvPr/>
        </p:nvPicPr>
        <p:blipFill>
          <a:blip r:embed="rId10"/>
          <a:srcRect t="-12500" b="-12500"/>
          <a:stretch/>
        </p:blipFill>
        <p:spPr>
          <a:xfrm>
            <a:off x="886054" y="4934102"/>
            <a:ext cx="228600" cy="22860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1285646" y="4809744"/>
            <a:ext cx="4429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Cloudflare Pages 문서</a:t>
            </a:r>
            <a:endParaRPr lang="en-US" sz="1200" dirty="0"/>
          </a:p>
        </p:txBody>
      </p:sp>
      <p:sp>
        <p:nvSpPr>
          <p:cNvPr id="38" name="Text 28"/>
          <p:cNvSpPr txBox="1"/>
          <p:nvPr/>
        </p:nvSpPr>
        <p:spPr>
          <a:xfrm>
            <a:off x="1285646" y="5076749"/>
            <a:ext cx="44293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8A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https://developers.cloudflare.com/pages/</a:t>
            </a:r>
            <a:endParaRPr lang="en-US" sz="1000" dirty="0"/>
          </a:p>
        </p:txBody>
      </p:sp>
      <p:pic>
        <p:nvPicPr>
          <p:cNvPr id="39" name="Image 8" descr="gen-dedup-5662e917c01deb6177e0c303b73be2ca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409944" y="4934102"/>
            <a:ext cx="228600" cy="228600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6810451" y="4809744"/>
            <a:ext cx="4429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Render 공식 문서</a:t>
            </a:r>
            <a:endParaRPr lang="en-US" sz="1200" dirty="0"/>
          </a:p>
        </p:txBody>
      </p:sp>
      <p:sp>
        <p:nvSpPr>
          <p:cNvPr id="41" name="Text 30"/>
          <p:cNvSpPr txBox="1"/>
          <p:nvPr/>
        </p:nvSpPr>
        <p:spPr>
          <a:xfrm>
            <a:off x="6810451" y="5076749"/>
            <a:ext cx="44293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8A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https://render.com/docs</a:t>
            </a:r>
            <a:endParaRPr lang="en-US" sz="1000" dirty="0"/>
          </a:p>
        </p:txBody>
      </p:sp>
      <p:pic>
        <p:nvPicPr>
          <p:cNvPr id="42" name="Image 9" descr="gen-dedup-622e160595a26801442d1c2441ef7a21.png"/>
          <p:cNvPicPr>
            <a:picLocks noChangeAspect="1"/>
          </p:cNvPicPr>
          <p:nvPr/>
        </p:nvPicPr>
        <p:blipFill>
          <a:blip r:embed="rId12"/>
          <a:srcRect l="-7143" r="-7143"/>
          <a:stretch/>
        </p:blipFill>
        <p:spPr>
          <a:xfrm>
            <a:off x="886054" y="5982005"/>
            <a:ext cx="228600" cy="228600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1285646" y="5857646"/>
            <a:ext cx="4429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 공식 문서</a:t>
            </a:r>
            <a:endParaRPr lang="en-US" sz="1200" dirty="0"/>
          </a:p>
        </p:txBody>
      </p:sp>
      <p:sp>
        <p:nvSpPr>
          <p:cNvPr id="44" name="Text 32"/>
          <p:cNvSpPr txBox="1"/>
          <p:nvPr/>
        </p:nvSpPr>
        <p:spPr>
          <a:xfrm>
            <a:off x="1285646" y="6124651"/>
            <a:ext cx="44293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8A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https://supabase.com/docs</a:t>
            </a:r>
            <a:endParaRPr lang="en-US" sz="1000" dirty="0"/>
          </a:p>
        </p:txBody>
      </p:sp>
      <p:pic>
        <p:nvPicPr>
          <p:cNvPr id="45" name="Image 10" descr="gen-dedup-7bf592ec75b0e1126a622522f7ab1334.png"/>
          <p:cNvPicPr>
            <a:picLocks noChangeAspect="1"/>
          </p:cNvPicPr>
          <p:nvPr/>
        </p:nvPicPr>
        <p:blipFill>
          <a:blip r:embed="rId13"/>
          <a:srcRect t="-12500" b="-12500"/>
          <a:stretch/>
        </p:blipFill>
        <p:spPr>
          <a:xfrm>
            <a:off x="6409944" y="5982005"/>
            <a:ext cx="228600" cy="228600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6810451" y="5857646"/>
            <a:ext cx="4429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RAWG Video Games Database API</a:t>
            </a:r>
            <a:endParaRPr lang="en-US" sz="1200" dirty="0"/>
          </a:p>
        </p:txBody>
      </p:sp>
      <p:sp>
        <p:nvSpPr>
          <p:cNvPr id="47" name="Text 34"/>
          <p:cNvSpPr txBox="1"/>
          <p:nvPr/>
        </p:nvSpPr>
        <p:spPr>
          <a:xfrm>
            <a:off x="6810451" y="6124651"/>
            <a:ext cx="44293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8A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https://rawg.io/apidocs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1672</Words>
  <Application>Microsoft Office PowerPoint</Application>
  <PresentationFormat>와이드스크린</PresentationFormat>
  <Paragraphs>344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Gothic A1</vt:lpstr>
      <vt:lpstr>Noto Sans KR</vt:lpstr>
      <vt:lpstr>Arial</vt:lpstr>
      <vt:lpstr>Courier New</vt:lpstr>
      <vt:lpstr>Times New Roman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재희 김</cp:lastModifiedBy>
  <cp:revision>1</cp:revision>
  <dcterms:created xsi:type="dcterms:W3CDTF">2026-05-19T18:45:49Z</dcterms:created>
  <dcterms:modified xsi:type="dcterms:W3CDTF">2026-05-19T19:12:17Z</dcterms:modified>
</cp:coreProperties>
</file>